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1" r:id="rId8"/>
    <p:sldId id="260" r:id="rId9"/>
    <p:sldId id="262" r:id="rId10"/>
    <p:sldId id="263" r:id="rId11"/>
    <p:sldId id="264" r:id="rId12"/>
    <p:sldId id="265" r:id="rId13"/>
    <p:sldId id="266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6" r:id="rId25"/>
    <p:sldId id="283" r:id="rId26"/>
    <p:sldId id="284" r:id="rId27"/>
    <p:sldId id="287" r:id="rId28"/>
    <p:sldId id="285" r:id="rId29"/>
    <p:sldId id="288" r:id="rId30"/>
    <p:sldId id="282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1" r:id="rId63"/>
    <p:sldId id="322" r:id="rId64"/>
    <p:sldId id="324" r:id="rId65"/>
    <p:sldId id="320" r:id="rId66"/>
    <p:sldId id="323" r:id="rId67"/>
    <p:sldId id="325" r:id="rId68"/>
    <p:sldId id="326" r:id="rId69"/>
    <p:sldId id="327" r:id="rId70"/>
    <p:sldId id="334" r:id="rId71"/>
    <p:sldId id="335" r:id="rId72"/>
    <p:sldId id="336" r:id="rId73"/>
    <p:sldId id="328" r:id="rId74"/>
    <p:sldId id="329" r:id="rId75"/>
    <p:sldId id="330" r:id="rId76"/>
    <p:sldId id="331" r:id="rId77"/>
    <p:sldId id="332" r:id="rId78"/>
    <p:sldId id="333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75"/>
    <p:restoredTop sz="94724"/>
  </p:normalViewPr>
  <p:slideViewPr>
    <p:cSldViewPr snapToGrid="0">
      <p:cViewPr varScale="1">
        <p:scale>
          <a:sx n="111" d="100"/>
          <a:sy n="111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79F64-85EE-C8B6-F2DE-A0386B432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B18E9-3228-D477-9971-8DC84B759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6CD8F-734B-5BC6-5907-74652A1AD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31DE-083D-C64B-6B3E-D4ADD4BD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2E6F0-E24C-59EC-1867-E0FDE779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57A7-AD20-4B5C-111D-7013CED8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75572-8451-80E6-85A2-65BDC7CD1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49ED6-5FF9-412E-0667-838B6359A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0E04A-384C-5637-0F45-961DA9EC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665A5-2795-A5E3-EC30-0303EE59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40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6EE7-740B-6155-6345-10357B19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7E4F5-4071-B3EB-468F-E355BF58B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BB26-0567-C940-E915-F871810B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2925A-780F-6DD6-844D-BABF16DF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0891B-443D-9A86-C0A2-7A73EBCF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0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ABBB-3FB4-E72D-A150-FA5D431F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6956-B156-F990-820A-BC670B467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187E8-A174-C09D-C5A2-43702F670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0AB2B-879C-3128-9FD0-73D38386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86254-44D2-47E8-B20E-842B7228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269C9-A600-4E33-0486-AD52BC88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8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4CE0-6A77-C0E9-3436-DAB7203E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44505-0C78-435F-6D8F-315CA3B3D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AEE32-C22C-9EB7-BAFA-1E9ECEB7C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A0560-25CB-E9F6-C519-B3B391758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FB5EF-CCEA-810A-416B-809015B17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B1C5E-D97D-75A0-D20E-92C82ACD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0D3978-9921-50AA-F31D-EB1F244A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BF06A-FB6F-F02B-1FFD-774F1044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0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3B0D-5530-0EB2-159D-598E8BA6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E5101-774A-44EC-2E64-0A104107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635CA-1C3D-0818-D21C-A39E299F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E68BC-A7AE-49DF-0057-2F4F72F8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5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741FA-E480-FD09-7CC4-15583D43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64A48-6CD9-4CB7-A3BB-FB7251F8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F7749-69A8-6B26-A001-F44B104B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8694-1090-7435-CDC4-892DC8D4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A7508-5E85-480A-457C-A9053FBB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38FC8-8620-49AF-A87B-017E9E276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068D1-8B80-8D14-9168-B8AAF05F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22CC4-AAC1-184C-54DA-3BDFD267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49C90-4B9A-4D33-F4D0-C9BE2E4A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E66C-C92B-F42C-75A8-207B0B984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0551D-B9F6-81A4-C75A-975198549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DB9AE-780A-591E-AB43-71CBAF0BD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D06AE-606A-0E88-DC92-08426AF5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7FEB8-BCA2-2AB0-D641-4328F1CE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43F6C-FE74-EB58-E7A6-6463FB69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9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BCB9-082F-2538-4368-63A4E01A7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7FB2D-066A-814D-ACCA-CC7EF8A36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FB6F0-4258-7501-3B7F-844A6823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6523-6FD9-5D3B-B0A8-F353B293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4171E-D11C-F84C-BF1D-2BC96BC5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2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6E557-99E6-3D20-81D1-FA4BBE9D9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EA024-208B-0CDA-F766-CC6DF2C8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94F65-F3B9-0635-1A6E-3A8DD1A3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D0CF6-B364-8334-5030-04C310C1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6C315-ADCF-4AF1-E3C2-64B29C55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073ED-B347-1DB4-C79C-DA3AA45D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3CC2A-69B9-B38C-8EBF-8E3BC09D8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6EEBF-ED58-85DE-1523-41E742B4B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DF8B4-566C-8B4A-A9A4-CF91A384B24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3CC99-2ECD-8577-F50F-C3DF3E266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2B787-F7F1-77D4-A815-D1EEA1FD7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1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604C-2B1B-D485-1E6B-C5890E195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Ceratopteris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LFY </a:t>
            </a:r>
            <a:r>
              <a:rPr lang="en-US" dirty="0" err="1"/>
              <a:t>RNAseq</a:t>
            </a:r>
            <a:br>
              <a:rPr lang="en-US" dirty="0"/>
            </a:br>
            <a:r>
              <a:rPr lang="en-US" dirty="0"/>
              <a:t>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A1921-808A-3522-C7BA-27CE93AE7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Feb 18, 2025</a:t>
            </a:r>
          </a:p>
        </p:txBody>
      </p:sp>
    </p:spTree>
    <p:extLst>
      <p:ext uri="{BB962C8B-B14F-4D97-AF65-F5344CB8AC3E}">
        <p14:creationId xmlns:p14="http://schemas.microsoft.com/office/powerpoint/2010/main" val="357957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9C9B-B94B-D35A-1FF8-49B23F99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annotation for LFY1 OK? Yes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268ADC-D871-9E64-EFCE-990F967B6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17" y="1506262"/>
            <a:ext cx="11944834" cy="4986613"/>
          </a:xfrm>
        </p:spPr>
      </p:pic>
    </p:spTree>
    <p:extLst>
      <p:ext uri="{BB962C8B-B14F-4D97-AF65-F5344CB8AC3E}">
        <p14:creationId xmlns:p14="http://schemas.microsoft.com/office/powerpoint/2010/main" val="72414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2477-E905-354E-6CE9-D14E126F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269E-70BF-692A-064F-7207480C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annotation for LFY2 OK? Yes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E6647-DDBE-26B0-3292-6673CC470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786" y="1336360"/>
            <a:ext cx="8696392" cy="5521640"/>
          </a:xfrm>
        </p:spPr>
      </p:pic>
    </p:spTree>
    <p:extLst>
      <p:ext uri="{BB962C8B-B14F-4D97-AF65-F5344CB8AC3E}">
        <p14:creationId xmlns:p14="http://schemas.microsoft.com/office/powerpoint/2010/main" val="345192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7314-2286-5433-2B1C-CBD93B35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227"/>
            <a:ext cx="10515600" cy="676866"/>
          </a:xfrm>
        </p:spPr>
        <p:txBody>
          <a:bodyPr>
            <a:normAutofit fontScale="90000"/>
          </a:bodyPr>
          <a:lstStyle/>
          <a:p>
            <a:r>
              <a:rPr lang="en-US" dirty="0"/>
              <a:t>Was I counting reads correctly? 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05BB2-1040-1121-02B8-44DC84496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684"/>
            <a:ext cx="10515600" cy="5039279"/>
          </a:xfrm>
        </p:spPr>
        <p:txBody>
          <a:bodyPr/>
          <a:lstStyle/>
          <a:p>
            <a:r>
              <a:rPr lang="en-US" dirty="0"/>
              <a:t>The annotation file has multiple isoforms and did not account for the correctly in my original analysis.  Now fixed.</a:t>
            </a:r>
          </a:p>
        </p:txBody>
      </p:sp>
    </p:spTree>
    <p:extLst>
      <p:ext uri="{BB962C8B-B14F-4D97-AF65-F5344CB8AC3E}">
        <p14:creationId xmlns:p14="http://schemas.microsoft.com/office/powerpoint/2010/main" val="1843026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87E0-34FC-04B2-40D9-6DAC836F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12"/>
            <a:ext cx="10515600" cy="1303758"/>
          </a:xfrm>
        </p:spPr>
        <p:txBody>
          <a:bodyPr>
            <a:normAutofit/>
          </a:bodyPr>
          <a:lstStyle/>
          <a:p>
            <a:r>
              <a:rPr lang="en-US" dirty="0"/>
              <a:t>LFY1: old on left, new on right.  Pattern is similar but counts are more reasonable.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E691C-9DAA-E146-8FB3-807D60CA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8929"/>
            <a:ext cx="6600393" cy="4071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AEEEF-F60D-4861-C409-CC3AD01F2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606" y="2248929"/>
            <a:ext cx="6600393" cy="407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91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7F76-0459-3073-9A5A-FA8993DF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E5FEF-F9AE-E526-97A5-CA19D14C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12"/>
            <a:ext cx="10515600" cy="1303758"/>
          </a:xfrm>
        </p:spPr>
        <p:txBody>
          <a:bodyPr>
            <a:normAutofit/>
          </a:bodyPr>
          <a:lstStyle/>
          <a:p>
            <a:r>
              <a:rPr lang="en-US" dirty="0"/>
              <a:t>LFY2: old on left, new on right.  Pattern is similar but counts are more reasonable.</a:t>
            </a: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9F32E91-8A19-AB92-94DA-13E2AA9A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8473"/>
            <a:ext cx="6314303" cy="3895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54285F-66C1-DC9D-B2BF-28FE133DB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924" y="2425612"/>
            <a:ext cx="6879075" cy="424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26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918B-5122-5729-4754-C7E76D44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D5FE8-8E2C-1867-1704-22D87B25D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8929"/>
            <a:ext cx="6600393" cy="4071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947447-4907-B1A6-1EE9-CF4DBF59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12"/>
            <a:ext cx="10515600" cy="1303758"/>
          </a:xfrm>
        </p:spPr>
        <p:txBody>
          <a:bodyPr>
            <a:normAutofit/>
          </a:bodyPr>
          <a:lstStyle/>
          <a:p>
            <a:r>
              <a:rPr lang="en-US"/>
              <a:t>LFY1 vs LFY2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A8E184-C1D0-2000-3E5B-0FF8BF0E9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925" y="2248929"/>
            <a:ext cx="6879075" cy="424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212C713-499E-279B-89C7-228E33C98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30194"/>
            <a:ext cx="10244812" cy="61468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3EB551-4C09-EB19-256D-64498FD1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all samples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FDFE2E4-56F3-C410-2A64-C97E5CD2A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8A28F83-0FB9-D7DA-4C5D-351ED8BEA8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053BFF5-2516-2D57-EE15-7EDB02A7E1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71BAEFED-BEA3-261D-D51F-0898E0D4B8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CE4EB-E303-84CB-41B6-D9D70154BB68}"/>
              </a:ext>
            </a:extLst>
          </p:cNvPr>
          <p:cNvSpPr txBox="1"/>
          <p:nvPr/>
        </p:nvSpPr>
        <p:spPr>
          <a:xfrm>
            <a:off x="10132541" y="506627"/>
            <a:ext cx="19152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Y-axis is first PC of expression of that module</a:t>
            </a:r>
          </a:p>
          <a:p>
            <a:endParaRPr lang="en-US" dirty="0"/>
          </a:p>
          <a:p>
            <a:r>
              <a:rPr lang="en-US" dirty="0"/>
              <a:t>LFY1 is in MIDNIGHT BLUE</a:t>
            </a:r>
          </a:p>
          <a:p>
            <a:endParaRPr lang="en-US" dirty="0"/>
          </a:p>
          <a:p>
            <a:r>
              <a:rPr lang="en-US" dirty="0"/>
              <a:t>LFY2 is in MAGENTA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0252F5A-AE23-3EA1-5D06-C6495EA37FD7}"/>
              </a:ext>
            </a:extLst>
          </p:cNvPr>
          <p:cNvSpPr/>
          <p:nvPr/>
        </p:nvSpPr>
        <p:spPr>
          <a:xfrm>
            <a:off x="733647" y="3581400"/>
            <a:ext cx="1658679" cy="9799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F14FE3-BD86-914F-4ABA-A1A4D82D2C38}"/>
              </a:ext>
            </a:extLst>
          </p:cNvPr>
          <p:cNvSpPr/>
          <p:nvPr/>
        </p:nvSpPr>
        <p:spPr>
          <a:xfrm>
            <a:off x="2388300" y="3581400"/>
            <a:ext cx="1658679" cy="97996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38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13A3-E9E4-2C4C-EF9C-10D4DA40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AC0B-A467-7F68-0E9B-A4E38E66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all samples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806FFAF-8FDE-C314-07AC-8A7FDAA4BD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0D43912-85BD-DB8A-A51B-4193CC0A39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3311FD8-3808-1FA8-3340-05ADC7804A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F5173CE-E204-DF58-8907-A674F02E4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3349E-75AE-4279-DB1A-98153F640314}"/>
              </a:ext>
            </a:extLst>
          </p:cNvPr>
          <p:cNvSpPr txBox="1"/>
          <p:nvPr/>
        </p:nvSpPr>
        <p:spPr>
          <a:xfrm>
            <a:off x="10132541" y="506627"/>
            <a:ext cx="19152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heatmap is first PC of expression of that module</a:t>
            </a:r>
          </a:p>
          <a:p>
            <a:endParaRPr lang="en-US" dirty="0"/>
          </a:p>
          <a:p>
            <a:r>
              <a:rPr lang="en-US" dirty="0"/>
              <a:t>LFY1 is in MIDNIGHT BLUE</a:t>
            </a:r>
          </a:p>
          <a:p>
            <a:endParaRPr lang="en-US" dirty="0"/>
          </a:p>
          <a:p>
            <a:r>
              <a:rPr lang="en-US" dirty="0"/>
              <a:t>LFY2 is in MAGENTA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838647-5E98-B5C9-FD2B-CF8610BAF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83" y="729046"/>
            <a:ext cx="9759958" cy="6039311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904447F-D171-7807-022C-D50534E89978}"/>
              </a:ext>
            </a:extLst>
          </p:cNvPr>
          <p:cNvSpPr/>
          <p:nvPr/>
        </p:nvSpPr>
        <p:spPr>
          <a:xfrm>
            <a:off x="3810000" y="2307265"/>
            <a:ext cx="218303" cy="44610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97AB53-06D2-B126-8F98-D4A26548BADE}"/>
              </a:ext>
            </a:extLst>
          </p:cNvPr>
          <p:cNvSpPr/>
          <p:nvPr/>
        </p:nvSpPr>
        <p:spPr>
          <a:xfrm>
            <a:off x="6098108" y="2307265"/>
            <a:ext cx="218303" cy="446109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4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912B-A684-06AB-36B9-F42137EC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7296-4E7C-2714-A966-DDBCBA99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sporophyte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BAA65A9-1A31-DBC0-BCC4-96B8F6D8CD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07B7639-70EA-FA50-3762-2A91C060E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E78DDD8-0660-8C6C-0D5E-C7BBCA0FF7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3636A0B-F713-5020-C036-8993E704BD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F750A-74B0-B889-847F-FD3304E4F975}"/>
              </a:ext>
            </a:extLst>
          </p:cNvPr>
          <p:cNvSpPr txBox="1"/>
          <p:nvPr/>
        </p:nvSpPr>
        <p:spPr>
          <a:xfrm>
            <a:off x="10132541" y="506627"/>
            <a:ext cx="19152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Y-axis is first PC of expression of that module</a:t>
            </a:r>
          </a:p>
          <a:p>
            <a:endParaRPr lang="en-US" dirty="0"/>
          </a:p>
          <a:p>
            <a:r>
              <a:rPr lang="en-US" dirty="0"/>
              <a:t>LFY1 is in BROWN</a:t>
            </a:r>
          </a:p>
          <a:p>
            <a:endParaRPr lang="en-US" dirty="0"/>
          </a:p>
          <a:p>
            <a:r>
              <a:rPr lang="en-US" dirty="0"/>
              <a:t>LFY2 is in BLUE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CCCA83-095E-5704-FEA3-06E054728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44" y="720811"/>
            <a:ext cx="9874230" cy="5924538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1D4FC4-62C5-E203-18C9-E87BE6294DFC}"/>
              </a:ext>
            </a:extLst>
          </p:cNvPr>
          <p:cNvSpPr/>
          <p:nvPr/>
        </p:nvSpPr>
        <p:spPr>
          <a:xfrm>
            <a:off x="2456121" y="729048"/>
            <a:ext cx="1733107" cy="8126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02E1AC-2C6B-BCA4-A261-77091D256E7F}"/>
              </a:ext>
            </a:extLst>
          </p:cNvPr>
          <p:cNvSpPr/>
          <p:nvPr/>
        </p:nvSpPr>
        <p:spPr>
          <a:xfrm>
            <a:off x="4189228" y="715776"/>
            <a:ext cx="1658679" cy="836580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2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17DC0-03DA-E9E4-EC77-BC3C72A1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3A95-1E34-3AC5-C98F-09CE2AFE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sporophyte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3AC5588-9364-EF23-1F17-6EC4FC9ADD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DF5AE60-48ED-BFAB-B1F7-7561EAA98B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6B03028-483F-D754-EDB3-1F234EB450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11E4D984-CB4A-6FE3-4437-E694864E9F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69337-94A7-C26E-1290-A632CE970367}"/>
              </a:ext>
            </a:extLst>
          </p:cNvPr>
          <p:cNvSpPr txBox="1"/>
          <p:nvPr/>
        </p:nvSpPr>
        <p:spPr>
          <a:xfrm>
            <a:off x="10132541" y="506627"/>
            <a:ext cx="19152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heatmap is first PC of expression of that module</a:t>
            </a:r>
          </a:p>
          <a:p>
            <a:endParaRPr lang="en-US" dirty="0"/>
          </a:p>
          <a:p>
            <a:r>
              <a:rPr lang="en-US" dirty="0"/>
              <a:t>LFY1 is in BROWN</a:t>
            </a:r>
          </a:p>
          <a:p>
            <a:endParaRPr lang="en-US" dirty="0"/>
          </a:p>
          <a:p>
            <a:r>
              <a:rPr lang="en-US" dirty="0"/>
              <a:t>LFY2 is in BLUE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31A106-CC8D-B34B-E4A1-281C72D97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84" y="729047"/>
            <a:ext cx="9578349" cy="5926934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B472981-EC95-F1D6-405C-A2712D455A05}"/>
              </a:ext>
            </a:extLst>
          </p:cNvPr>
          <p:cNvSpPr/>
          <p:nvPr/>
        </p:nvSpPr>
        <p:spPr>
          <a:xfrm>
            <a:off x="3185391" y="2303585"/>
            <a:ext cx="218303" cy="44610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8B3D9A-B1C7-B02D-E497-F8FBF089F71F}"/>
              </a:ext>
            </a:extLst>
          </p:cNvPr>
          <p:cNvSpPr/>
          <p:nvPr/>
        </p:nvSpPr>
        <p:spPr>
          <a:xfrm>
            <a:off x="6570636" y="2315990"/>
            <a:ext cx="218303" cy="446109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4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E7484-C118-B77F-9F25-0CBCDB30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6897-1FD8-CD66-9938-CE0A046D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gametophyte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0AA1BE6-61EC-1C01-5D81-78B6C7BC67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05C7EE7-7E62-62F8-6D97-5EC31786BD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BFE5D49-48EF-1362-1210-CC80C64273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60D3FA03-F9C4-53A8-FC92-7D5EAA2CFB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17800-456D-04D5-33F8-8297903740C8}"/>
              </a:ext>
            </a:extLst>
          </p:cNvPr>
          <p:cNvSpPr txBox="1"/>
          <p:nvPr/>
        </p:nvSpPr>
        <p:spPr>
          <a:xfrm>
            <a:off x="10132541" y="506627"/>
            <a:ext cx="19152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Y-axis is first PC of expression of that module</a:t>
            </a:r>
          </a:p>
          <a:p>
            <a:endParaRPr lang="en-US" dirty="0"/>
          </a:p>
          <a:p>
            <a:r>
              <a:rPr lang="en-US" dirty="0"/>
              <a:t>LFY1 is in TURQUOISE</a:t>
            </a:r>
          </a:p>
          <a:p>
            <a:endParaRPr lang="en-US" dirty="0"/>
          </a:p>
          <a:p>
            <a:r>
              <a:rPr lang="en-US" dirty="0"/>
              <a:t>LFY2 is in BROWN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351EAF-E49E-6F7B-5811-29CC0B8E8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1" y="729046"/>
            <a:ext cx="9765057" cy="6048035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07D2C17-A9C9-B010-BE20-B8227C6EE2DD}"/>
              </a:ext>
            </a:extLst>
          </p:cNvPr>
          <p:cNvSpPr/>
          <p:nvPr/>
        </p:nvSpPr>
        <p:spPr>
          <a:xfrm>
            <a:off x="4618817" y="729044"/>
            <a:ext cx="1915297" cy="121671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9BA3490-CFC3-A466-9360-0E22E8E51CAB}"/>
              </a:ext>
            </a:extLst>
          </p:cNvPr>
          <p:cNvSpPr/>
          <p:nvPr/>
        </p:nvSpPr>
        <p:spPr>
          <a:xfrm>
            <a:off x="656417" y="4315761"/>
            <a:ext cx="1915297" cy="1216713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1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9AA3-7D8F-83EC-A28B-9471F7C7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86B9-FB6D-6254-E2FA-0CD06FC6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gametophyte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C168545-EDDE-43ED-A065-9EB23EEE72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FC66EBA-B8B0-46DA-C30B-E82F19FF99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CAD6344-E3DA-B0C4-BAC8-6CA8F8BC92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0D906F29-63CE-4A22-32F2-16D9799B4B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C8F56-8D77-EEEF-14A9-03DDDBD80B7F}"/>
              </a:ext>
            </a:extLst>
          </p:cNvPr>
          <p:cNvSpPr txBox="1"/>
          <p:nvPr/>
        </p:nvSpPr>
        <p:spPr>
          <a:xfrm>
            <a:off x="10132541" y="506627"/>
            <a:ext cx="19152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LFY1 is in TURQUOISE</a:t>
            </a:r>
          </a:p>
          <a:p>
            <a:endParaRPr lang="en-US" dirty="0"/>
          </a:p>
          <a:p>
            <a:r>
              <a:rPr lang="en-US" dirty="0"/>
              <a:t>LFY2 is in BROWN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FF9F8B-2529-29D3-9DF9-33ADB595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1" y="614916"/>
            <a:ext cx="9711245" cy="6009168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E31ACD0-7143-CFE5-A895-8A075A437C3F}"/>
              </a:ext>
            </a:extLst>
          </p:cNvPr>
          <p:cNvSpPr/>
          <p:nvPr/>
        </p:nvSpPr>
        <p:spPr>
          <a:xfrm>
            <a:off x="6215449" y="2158409"/>
            <a:ext cx="490151" cy="47049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D1E5FF-0EEC-148D-50D9-98D31951D40D}"/>
              </a:ext>
            </a:extLst>
          </p:cNvPr>
          <p:cNvSpPr/>
          <p:nvPr/>
        </p:nvSpPr>
        <p:spPr>
          <a:xfrm>
            <a:off x="3271476" y="2153093"/>
            <a:ext cx="490151" cy="470490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51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E1B4-8E5E-D62B-7684-76ED53A2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661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DC10F-99C3-BC9E-BF36-7C8F66676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009"/>
            <a:ext cx="10515600" cy="4932954"/>
          </a:xfrm>
        </p:spPr>
        <p:txBody>
          <a:bodyPr/>
          <a:lstStyle/>
          <a:p>
            <a:r>
              <a:rPr lang="en-US" dirty="0"/>
              <a:t>Gene Ontology (GO) categories for each module</a:t>
            </a:r>
          </a:p>
          <a:p>
            <a:r>
              <a:rPr lang="en-US" dirty="0"/>
              <a:t>Enriched promoter motifs for each modules</a:t>
            </a:r>
          </a:p>
          <a:p>
            <a:r>
              <a:rPr lang="en-US" dirty="0"/>
              <a:t>Build a mutual rank (MR) network</a:t>
            </a:r>
          </a:p>
          <a:p>
            <a:pPr lvl="1"/>
            <a:r>
              <a:rPr lang="en-US" dirty="0"/>
              <a:t>Rationale:</a:t>
            </a:r>
          </a:p>
          <a:p>
            <a:pPr lvl="2"/>
            <a:r>
              <a:rPr lang="en-US" dirty="0"/>
              <a:t>Current LFY modules are very large many hundreds to thousands of genes</a:t>
            </a:r>
          </a:p>
          <a:p>
            <a:pPr lvl="2"/>
            <a:r>
              <a:rPr lang="en-US" dirty="0"/>
              <a:t>A MR network will allow me to more easily identify LFYs’ closest connections</a:t>
            </a:r>
          </a:p>
        </p:txBody>
      </p:sp>
    </p:spTree>
    <p:extLst>
      <p:ext uri="{BB962C8B-B14F-4D97-AF65-F5344CB8AC3E}">
        <p14:creationId xmlns:p14="http://schemas.microsoft.com/office/powerpoint/2010/main" val="3176333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8DF8-C233-DD84-D4DA-FEB8F51932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March 13,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A80F9-468F-7B46-D679-0473B3254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10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F856-F0C4-2C37-173A-167F5784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new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51358-A285-6678-9770-B46C7EEFE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enrichment of WGCNA modules</a:t>
            </a:r>
          </a:p>
          <a:p>
            <a:r>
              <a:rPr lang="en-US" dirty="0"/>
              <a:t>Looked for module membership of MADS box genes</a:t>
            </a:r>
          </a:p>
          <a:p>
            <a:r>
              <a:rPr lang="en-US" dirty="0"/>
              <a:t>Tried a new method “Targeted Gene Correlation Network” (TGCN)</a:t>
            </a:r>
          </a:p>
          <a:p>
            <a:r>
              <a:rPr lang="en-US" dirty="0"/>
              <a:t>Built mutual rank (MR) networks</a:t>
            </a:r>
          </a:p>
        </p:txBody>
      </p:sp>
    </p:spTree>
    <p:extLst>
      <p:ext uri="{BB962C8B-B14F-4D97-AF65-F5344CB8AC3E}">
        <p14:creationId xmlns:p14="http://schemas.microsoft.com/office/powerpoint/2010/main" val="3703183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A999-91D8-97C1-DAEE-FB404CA8C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601"/>
          </a:xfrm>
        </p:spPr>
        <p:txBody>
          <a:bodyPr>
            <a:normAutofit fontScale="90000"/>
          </a:bodyPr>
          <a:lstStyle/>
          <a:p>
            <a:r>
              <a:rPr lang="en-US" dirty="0"/>
              <a:t>TOP3 GO Enrichment: LFY1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9C54D1-F0B5-26E2-0CC5-201555A26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927" y="1682238"/>
            <a:ext cx="6921500" cy="850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804685-97CF-AE11-9B9E-F0E937F23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7" y="3671384"/>
            <a:ext cx="7772400" cy="900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761370-45FD-31FB-4562-8F1067999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27" y="5709859"/>
            <a:ext cx="7277100" cy="876300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33DE2A5-78F7-0FFA-B3A7-A0CBEBB5FBEC}"/>
              </a:ext>
            </a:extLst>
          </p:cNvPr>
          <p:cNvSpPr txBox="1">
            <a:spLocks/>
          </p:cNvSpPr>
          <p:nvPr/>
        </p:nvSpPr>
        <p:spPr>
          <a:xfrm>
            <a:off x="838200" y="1223889"/>
            <a:ext cx="10515600" cy="4953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All Samples: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Sporophyte: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Gametophyte:</a:t>
            </a:r>
          </a:p>
        </p:txBody>
      </p:sp>
    </p:spTree>
    <p:extLst>
      <p:ext uri="{BB962C8B-B14F-4D97-AF65-F5344CB8AC3E}">
        <p14:creationId xmlns:p14="http://schemas.microsoft.com/office/powerpoint/2010/main" val="3538382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D10C-3387-877B-6ACE-B7B999D8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EFF2-8B41-386E-FAEC-C4AF8436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601"/>
          </a:xfrm>
        </p:spPr>
        <p:txBody>
          <a:bodyPr>
            <a:normAutofit fontScale="90000"/>
          </a:bodyPr>
          <a:lstStyle/>
          <a:p>
            <a:r>
              <a:rPr lang="en-US" dirty="0"/>
              <a:t>Top3 GO Enrichment: LFY2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EE9FF4-4E49-BA9A-906E-4D016B92B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889"/>
            <a:ext cx="10515600" cy="49530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All Samples: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Sporophyte: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Gametophyte: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E4F28-1245-C028-5F1A-BB529A287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2814"/>
            <a:ext cx="6934200" cy="88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B1AE90-7554-5DD1-10BF-4109E1A4E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06202"/>
            <a:ext cx="77470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6E2184-316C-FD4A-49F9-1A515EB34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814779"/>
            <a:ext cx="73025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61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0B8B-3A6E-A81D-8E87-BBB2E1E6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448"/>
            <a:ext cx="10515600" cy="971305"/>
          </a:xfrm>
        </p:spPr>
        <p:txBody>
          <a:bodyPr/>
          <a:lstStyle/>
          <a:p>
            <a:r>
              <a:rPr lang="en-US" dirty="0"/>
              <a:t>What modules are the MADS box genes 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9D90A-24F2-689F-6AFE-AEB7888C5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769"/>
            <a:ext cx="10515600" cy="4770194"/>
          </a:xfrm>
        </p:spPr>
        <p:txBody>
          <a:bodyPr/>
          <a:lstStyle/>
          <a:p>
            <a:r>
              <a:rPr lang="en-US" dirty="0"/>
              <a:t>WGCNA all samples: LFY1 = </a:t>
            </a:r>
            <a:r>
              <a:rPr lang="en-US" dirty="0" err="1"/>
              <a:t>midnightblue</a:t>
            </a:r>
            <a:r>
              <a:rPr lang="en-US" dirty="0"/>
              <a:t>, LFY2 = magenta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Sporophyte: LFY1 = brown, LFY2 = blue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Gametophyte: LFY1 = turquoise, LFY2 = brown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0E593-29B2-6837-0063-0647A1D7F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12" y="1986084"/>
            <a:ext cx="6375400" cy="63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8922-58C8-6F00-377F-AED201D2A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925" y="3522723"/>
            <a:ext cx="5207000" cy="58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0F45AA-0088-BD8A-09FB-A1F19838E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925" y="4899464"/>
            <a:ext cx="37465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49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D4A9-F2F8-8E3E-B21E-8D17F87F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681"/>
          </a:xfrm>
        </p:spPr>
        <p:txBody>
          <a:bodyPr>
            <a:normAutofit fontScale="90000"/>
          </a:bodyPr>
          <a:lstStyle/>
          <a:p>
            <a:r>
              <a:rPr lang="en-US" dirty="0"/>
              <a:t>TGCN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CD53-D99A-F795-1009-4991DB6B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957"/>
            <a:ext cx="10515600" cy="4939006"/>
          </a:xfrm>
        </p:spPr>
        <p:txBody>
          <a:bodyPr/>
          <a:lstStyle/>
          <a:p>
            <a:r>
              <a:rPr lang="en-US" dirty="0"/>
              <a:t>Idea: build network around a trait (or gene expression) of interest</a:t>
            </a:r>
          </a:p>
          <a:p>
            <a:r>
              <a:rPr lang="en-US" dirty="0"/>
              <a:t>Method:</a:t>
            </a:r>
          </a:p>
          <a:p>
            <a:pPr lvl="1"/>
            <a:r>
              <a:rPr lang="en-US" dirty="0"/>
              <a:t>LASSO regression to identify genes that are good predictors of the trait</a:t>
            </a:r>
          </a:p>
          <a:p>
            <a:pPr lvl="2"/>
            <a:r>
              <a:rPr lang="en-US" dirty="0"/>
              <a:t>Bootstrap replicates to test reproducibility</a:t>
            </a:r>
          </a:p>
          <a:p>
            <a:pPr lvl="2"/>
            <a:r>
              <a:rPr lang="en-US" dirty="0"/>
              <a:t>Resulting genes from LASSO are “hubs”</a:t>
            </a:r>
          </a:p>
          <a:p>
            <a:pPr lvl="1"/>
            <a:r>
              <a:rPr lang="en-US" dirty="0"/>
              <a:t>Use the LASSO hub genes to build subnetworks via correlation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344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19AB-5174-A390-AE42-45E73067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/>
          <a:lstStyle/>
          <a:p>
            <a:r>
              <a:rPr lang="en-US" dirty="0"/>
              <a:t>TGCN LASSO Diagnostics LFY1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5CCB3-D93A-612F-1874-128ED61E9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888"/>
            <a:ext cx="10515600" cy="5103075"/>
          </a:xfrm>
        </p:spPr>
        <p:txBody>
          <a:bodyPr/>
          <a:lstStyle/>
          <a:p>
            <a:r>
              <a:rPr lang="en-US" dirty="0"/>
              <a:t>Ratio of appearance = number of times a gene appeared in 10 bootstrap.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99B52-156F-3488-FB84-EB903081F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991" y="1638110"/>
            <a:ext cx="8461717" cy="521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72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6210-DC8C-D011-2406-9B3E264D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3AD5-2D8A-D35E-B294-51DBF95A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/>
          <a:lstStyle/>
          <a:p>
            <a:r>
              <a:rPr lang="en-US" dirty="0"/>
              <a:t>TGCN LASSO Diagnostics LFY2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8B8B3-CAF1-7AC0-AB73-2971325C3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888"/>
            <a:ext cx="10515600" cy="5103075"/>
          </a:xfrm>
        </p:spPr>
        <p:txBody>
          <a:bodyPr/>
          <a:lstStyle/>
          <a:p>
            <a:r>
              <a:rPr lang="en-US" dirty="0"/>
              <a:t>Ratio of appearance = number of times a gene appeared in 10 bootstrap.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53338F-31AD-5296-AA04-8FC5B3C46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292" y="1764983"/>
            <a:ext cx="8068995" cy="497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34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2786-FA64-71AB-9F81-4DB0A6D3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TGCNc5 LFY 1 subnetwork correlation with LFY1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E25CA-E1B1-A4B3-218B-5F3BCBE0F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483"/>
            <a:ext cx="10515600" cy="503748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4898C-E199-DE31-BB4B-5CF66F62B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52" y="942536"/>
            <a:ext cx="9461695" cy="583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12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AC3F-0FB2-A3D0-4204-BBF3D51C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3CDB-4DCA-F1B8-1B87-38BE4B60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TGCNc5 LFY 1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A4FE5-86C3-B289-72F2-4C6928055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483"/>
            <a:ext cx="10515600" cy="503748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7BB95-DD58-7CEB-FBA8-FAC8BD8B4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61940"/>
            <a:ext cx="9557825" cy="589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54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F546C-F908-C590-B45B-9CB99731F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F142-243B-C884-E737-68AB7DF4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95" y="365126"/>
            <a:ext cx="10959905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TGCNc5 LFY 1 GO terms (should redo on whole list)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FEA7DC-0E77-522D-A0A0-EB48CD33A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256202"/>
              </p:ext>
            </p:extLst>
          </p:nvPr>
        </p:nvGraphicFramePr>
        <p:xfrm>
          <a:off x="535066" y="942536"/>
          <a:ext cx="9115373" cy="5550350"/>
        </p:xfrm>
        <a:graphic>
          <a:graphicData uri="http://schemas.openxmlformats.org/drawingml/2006/table">
            <a:tbl>
              <a:tblPr/>
              <a:tblGrid>
                <a:gridCol w="1514077">
                  <a:extLst>
                    <a:ext uri="{9D8B030D-6E8A-4147-A177-3AD203B41FA5}">
                      <a16:colId xmlns:a16="http://schemas.microsoft.com/office/drawing/2014/main" val="1742271355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1852659830"/>
                    </a:ext>
                  </a:extLst>
                </a:gridCol>
                <a:gridCol w="3120856">
                  <a:extLst>
                    <a:ext uri="{9D8B030D-6E8A-4147-A177-3AD203B41FA5}">
                      <a16:colId xmlns:a16="http://schemas.microsoft.com/office/drawing/2014/main" val="3050384557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814904664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775730329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1792133880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65127678"/>
                    </a:ext>
                  </a:extLst>
                </a:gridCol>
              </a:tblGrid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GO.ID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Annotated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Significant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p_value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392703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Ceric.01G018500.1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GO:0010411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xyloglucan metabolic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614533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Ceric.01G018500.1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GO:0007275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multicellular organism development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122183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Ceric.01G018500.1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GO:0042546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cell wall biogenesis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834550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Ceric.01G018500.1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GO:0009664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plant-type cell wall organization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813501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Ceric.01G042200.1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DNA-templated transcriptio...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172621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Ceric.02G059700.1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GO:0009116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nucleoside metabolic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969006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Ceric.02G059700.1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GO:0006479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methylation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497556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Ceric.02G059700.1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GO:0016567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ubiquitination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150098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Ceric.11G001200.1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GO:0006633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fatty acid biosynthetic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819957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Ceric.11G001200.1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GO:0009058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biosynthetic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2357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852800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Ceric.16G069600.1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GO:0007275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multicellular organism development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0.0063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657999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Ceric.16G069600.1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GO:0030001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metal ion transport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0.0417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779525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Ceric.18G036100.1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GO:0009664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plant-type cell wall organization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0.00087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87487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Ceric.18G036100.1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GO:0010411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xyloglucan metabolic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0.01839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773521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Ceric.18G036100.1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GO:0042546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cell wall biogenesis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0.03049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557363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Ceric.1Z004200.1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GO:0007275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multicellular organism development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014754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Ceric.1Z004200.1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DNA-templated transcriptio...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491010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Ceric.1Z119300.1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GO:0006364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rRNA processing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875955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Ceric.1Z119300.1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GO:0006470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dephosphorylation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16567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Ceric.31G020500.1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GO:0006189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'de novo' IMP biosynthetic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411692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Ceric.31G020500.1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GO:0006108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malate metabolic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0.0179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105705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Ceric.33G032900.1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GO:0045892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negative regulation of DNA-templated tra...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711201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Ceric.33G032900.1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GO:0006535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cysteine biosynthetic process from serin...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242845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Ceric.33G032900.1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GO:0006096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glycolytic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7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167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E387-0C49-AF55-739E-F378AB15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742E-7218-937F-B1F2-F0DF0565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TGCNc3 LFY2 subnetwork correlation with LFY2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173A-812A-4758-BA61-4D7BAA5FA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483"/>
            <a:ext cx="10515600" cy="503748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E249B-5B97-2E4A-7BAC-204A4A6E4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42536"/>
            <a:ext cx="9592994" cy="591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52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41DBB-FA0D-CF06-5068-FBD3C013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9AC7-1263-D4D1-221D-11FD583CC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TGCNc3 LFY2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9054C-1BF8-1F65-C40B-A3545B4F4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483"/>
            <a:ext cx="10515600" cy="503748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9AF48-DC71-409A-BD36-813F199AD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39" y="942536"/>
            <a:ext cx="9494521" cy="58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74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576D-F3E3-0386-6FEA-0065B82E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2431-5609-06AB-0A5F-FD3D1AF5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95" y="365126"/>
            <a:ext cx="10959905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TGCNc3 LFY2 GO terms (should redo on whole list)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13EE9AA-7DC4-98BB-38F1-D0BE0A555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743156"/>
              </p:ext>
            </p:extLst>
          </p:nvPr>
        </p:nvGraphicFramePr>
        <p:xfrm>
          <a:off x="520505" y="858130"/>
          <a:ext cx="10550769" cy="5902440"/>
        </p:xfrm>
        <a:graphic>
          <a:graphicData uri="http://schemas.openxmlformats.org/drawingml/2006/table">
            <a:tbl>
              <a:tblPr/>
              <a:tblGrid>
                <a:gridCol w="1745578">
                  <a:extLst>
                    <a:ext uri="{9D8B030D-6E8A-4147-A177-3AD203B41FA5}">
                      <a16:colId xmlns:a16="http://schemas.microsoft.com/office/drawing/2014/main" val="4197423283"/>
                    </a:ext>
                  </a:extLst>
                </a:gridCol>
                <a:gridCol w="1513647">
                  <a:extLst>
                    <a:ext uri="{9D8B030D-6E8A-4147-A177-3AD203B41FA5}">
                      <a16:colId xmlns:a16="http://schemas.microsoft.com/office/drawing/2014/main" val="1348452859"/>
                    </a:ext>
                  </a:extLst>
                </a:gridCol>
                <a:gridCol w="3043568">
                  <a:extLst>
                    <a:ext uri="{9D8B030D-6E8A-4147-A177-3AD203B41FA5}">
                      <a16:colId xmlns:a16="http://schemas.microsoft.com/office/drawing/2014/main" val="408726629"/>
                    </a:ext>
                  </a:extLst>
                </a:gridCol>
                <a:gridCol w="1061994">
                  <a:extLst>
                    <a:ext uri="{9D8B030D-6E8A-4147-A177-3AD203B41FA5}">
                      <a16:colId xmlns:a16="http://schemas.microsoft.com/office/drawing/2014/main" val="2584567131"/>
                    </a:ext>
                  </a:extLst>
                </a:gridCol>
                <a:gridCol w="1061994">
                  <a:extLst>
                    <a:ext uri="{9D8B030D-6E8A-4147-A177-3AD203B41FA5}">
                      <a16:colId xmlns:a16="http://schemas.microsoft.com/office/drawing/2014/main" val="3214466370"/>
                    </a:ext>
                  </a:extLst>
                </a:gridCol>
                <a:gridCol w="1061994">
                  <a:extLst>
                    <a:ext uri="{9D8B030D-6E8A-4147-A177-3AD203B41FA5}">
                      <a16:colId xmlns:a16="http://schemas.microsoft.com/office/drawing/2014/main" val="1477738453"/>
                    </a:ext>
                  </a:extLst>
                </a:gridCol>
                <a:gridCol w="1061994">
                  <a:extLst>
                    <a:ext uri="{9D8B030D-6E8A-4147-A177-3AD203B41FA5}">
                      <a16:colId xmlns:a16="http://schemas.microsoft.com/office/drawing/2014/main" val="2981950721"/>
                    </a:ext>
                  </a:extLst>
                </a:gridCol>
              </a:tblGrid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GO.ID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Annotated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Significant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p_value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147222"/>
                  </a:ext>
                </a:extLst>
              </a:tr>
              <a:tr h="368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Ceric.02G085000.1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GO:0006075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(1-&gt;3)-beta-D-glucan biosynthetic proces...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45770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Ceric.02G085000.1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GO:0006820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monoatomic anion transport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342719"/>
                  </a:ext>
                </a:extLst>
              </a:tr>
              <a:tr h="338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Ceric.02G085000.1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DNA-templated transcriptio...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96150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Ceric.02G085000.1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GO:0007275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multicellular organism development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293596"/>
                  </a:ext>
                </a:extLst>
              </a:tr>
              <a:tr h="338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Ceric.04G051800.1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DNA-templated transcriptio...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0.0048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967538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Ceric.04G051800.1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GO:0009107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lipoate biosynthetic process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0.0063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785918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Ceric.04G051800.1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GO:0009116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nucleoside metabolic process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0.0225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170707"/>
                  </a:ext>
                </a:extLst>
              </a:tr>
              <a:tr h="338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Ceric.04G051800.1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DNA-templated transcription initiation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0.0469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715043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Ceric.05G066500.1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GO:0007165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signal transduction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152526"/>
                  </a:ext>
                </a:extLst>
              </a:tr>
              <a:tr h="368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Ceric.08G017200.1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GO:0016998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cell wall macromolecule catabolic proces...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0.004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156857"/>
                  </a:ext>
                </a:extLst>
              </a:tr>
              <a:tr h="368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Ceric.08G017200.1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GO:0006888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endoplasmic reticulum to Golgi vesicle-m...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64631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Ceric.08G017200.1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GO:0030163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catabolic process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0.0344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079343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Ceric.08G017200.1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GO:0016192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vesicle-mediated transport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0.0349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235951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Ceric.08G018900.1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GO:0006468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phosphorylation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583135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Ceric.09G051000.1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GO:0006419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alanyl-tRNA aminoacylation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814678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Ceric.09G051000.1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GO:0009107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lipoate biosynthetic process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81956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Ceric.09G051000.1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GO:0030042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actin filament depolymerization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699484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Ceric.12G070200.1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GO:0006412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translation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1.90E-08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715867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Ceric.12G070200.1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GO:0044571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[2Fe-2S] cluster assembly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580589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Ceric.12G070200.1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GO:0030042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actin filament depolymerization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0.0313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442818"/>
                  </a:ext>
                </a:extLst>
              </a:tr>
              <a:tr h="368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Ceric.12G070200.1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GO:0006888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endoplasmic reticulum to Golgi vesicle-m...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0.0441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014472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Ceric.15G011900.1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GO:0006508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proteolysis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084379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Ceric.1Z103300.1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GO:0006166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purine ribonucleoside salvage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53503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Ceric.1Z103300.1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GO:0006412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translation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84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93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247E-78EA-3A12-32FE-9C599173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5FC8-2B20-47B4-C4C7-4551F798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95" y="365126"/>
            <a:ext cx="10959905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TGCNc3 LFY2 GO terms (should redo on whole list)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59CC864-C043-CAC2-C09C-6D5E92C74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667387"/>
              </p:ext>
            </p:extLst>
          </p:nvPr>
        </p:nvGraphicFramePr>
        <p:xfrm>
          <a:off x="393895" y="1217380"/>
          <a:ext cx="11352626" cy="4958334"/>
        </p:xfrm>
        <a:graphic>
          <a:graphicData uri="http://schemas.openxmlformats.org/drawingml/2006/table">
            <a:tbl>
              <a:tblPr/>
              <a:tblGrid>
                <a:gridCol w="1878240">
                  <a:extLst>
                    <a:ext uri="{9D8B030D-6E8A-4147-A177-3AD203B41FA5}">
                      <a16:colId xmlns:a16="http://schemas.microsoft.com/office/drawing/2014/main" val="3940031060"/>
                    </a:ext>
                  </a:extLst>
                </a:gridCol>
                <a:gridCol w="1628685">
                  <a:extLst>
                    <a:ext uri="{9D8B030D-6E8A-4147-A177-3AD203B41FA5}">
                      <a16:colId xmlns:a16="http://schemas.microsoft.com/office/drawing/2014/main" val="516374226"/>
                    </a:ext>
                  </a:extLst>
                </a:gridCol>
                <a:gridCol w="3274881">
                  <a:extLst>
                    <a:ext uri="{9D8B030D-6E8A-4147-A177-3AD203B41FA5}">
                      <a16:colId xmlns:a16="http://schemas.microsoft.com/office/drawing/2014/main" val="2642949737"/>
                    </a:ext>
                  </a:extLst>
                </a:gridCol>
                <a:gridCol w="1142705">
                  <a:extLst>
                    <a:ext uri="{9D8B030D-6E8A-4147-A177-3AD203B41FA5}">
                      <a16:colId xmlns:a16="http://schemas.microsoft.com/office/drawing/2014/main" val="4013067174"/>
                    </a:ext>
                  </a:extLst>
                </a:gridCol>
                <a:gridCol w="1142705">
                  <a:extLst>
                    <a:ext uri="{9D8B030D-6E8A-4147-A177-3AD203B41FA5}">
                      <a16:colId xmlns:a16="http://schemas.microsoft.com/office/drawing/2014/main" val="726481033"/>
                    </a:ext>
                  </a:extLst>
                </a:gridCol>
                <a:gridCol w="1142705">
                  <a:extLst>
                    <a:ext uri="{9D8B030D-6E8A-4147-A177-3AD203B41FA5}">
                      <a16:colId xmlns:a16="http://schemas.microsoft.com/office/drawing/2014/main" val="2224320409"/>
                    </a:ext>
                  </a:extLst>
                </a:gridCol>
                <a:gridCol w="1142705">
                  <a:extLst>
                    <a:ext uri="{9D8B030D-6E8A-4147-A177-3AD203B41FA5}">
                      <a16:colId xmlns:a16="http://schemas.microsoft.com/office/drawing/2014/main" val="3796680697"/>
                    </a:ext>
                  </a:extLst>
                </a:gridCol>
              </a:tblGrid>
              <a:tr h="2638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Ceric.21G025700.1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GO:0051252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RNA metabolic process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78373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Ceric.21G025700.1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GO:0006099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tricarboxylic acid cycle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048076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Ceric.21G025700.1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GO:0019290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siderophore biosynthetic process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87828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GO:0009956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radial pattern formation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69299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GO:0008356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asymmetric cell division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108684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GO:0048366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leaf development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554355"/>
                  </a:ext>
                </a:extLst>
              </a:tr>
              <a:tr h="51464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GO:0006511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ubiquitin-dependent protein catabolic pr...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319328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GO:0006979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response to oxidative stress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0.03919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20394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Ceric.32G054200.1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GO:0015693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magnesium ion transport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27212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Ceric.32G054200.1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vacuolar transport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23030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GO:0009956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radial pattern formation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817476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GO:0048366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leaf development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592165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GO:0008356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asymmetric cell division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803420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GO:0015693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magnesium ion transport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359865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GO:0010468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gene expression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375442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Ceric.37G009800.1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GO:0005992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trehalose biosynthetic process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745426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Ceric.37G009800.1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GO:0006633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fatty acid biosynthetic process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161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635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EAC6-DA8D-5D43-17A2-FA155961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832"/>
          </a:xfrm>
        </p:spPr>
        <p:txBody>
          <a:bodyPr/>
          <a:lstStyle/>
          <a:p>
            <a:r>
              <a:rPr lang="en-US" dirty="0"/>
              <a:t>MR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CC405-E479-B255-D420-B6F7A887D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972"/>
            <a:ext cx="10515600" cy="4727991"/>
          </a:xfrm>
        </p:spPr>
        <p:txBody>
          <a:bodyPr/>
          <a:lstStyle/>
          <a:p>
            <a:r>
              <a:rPr lang="en-US" dirty="0"/>
              <a:t>Wasn’t able to prepare slides yet</a:t>
            </a:r>
          </a:p>
          <a:p>
            <a:r>
              <a:rPr lang="en-US" dirty="0"/>
              <a:t>Quick look suggests that at least for LFY1 TGCN and MR are pulling out similar genes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26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7CC3-9297-67EE-40E6-55B3311C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967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420BF-D5E3-DCC4-E27B-255C97A98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092"/>
            <a:ext cx="10515600" cy="4910871"/>
          </a:xfrm>
        </p:spPr>
        <p:txBody>
          <a:bodyPr/>
          <a:lstStyle/>
          <a:p>
            <a:r>
              <a:rPr lang="en-US" dirty="0"/>
              <a:t>Promoter motif enrichment</a:t>
            </a:r>
          </a:p>
          <a:p>
            <a:r>
              <a:rPr lang="en-US" dirty="0"/>
              <a:t>Expand to include </a:t>
            </a:r>
            <a:r>
              <a:rPr lang="en-US"/>
              <a:t>samples from NCBI?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208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DFB105-54AF-2E00-4F08-E6002CBCB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April 21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20BCDEA-D4C6-5FFF-A89E-E1E92D59C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05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62D7-5B3C-8046-EDDD-3FB127DD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6EA29-4F19-4ACF-91FC-E3FCC6CD3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Performed Male vs Hermaphrodite DEG comparison</a:t>
            </a:r>
          </a:p>
          <a:p>
            <a:r>
              <a:rPr lang="en-US" dirty="0"/>
              <a:t>Downloaded 53 gametophyte </a:t>
            </a:r>
            <a:r>
              <a:rPr lang="en-US" dirty="0" err="1"/>
              <a:t>RNAseq</a:t>
            </a:r>
            <a:r>
              <a:rPr lang="en-US" dirty="0"/>
              <a:t> samples</a:t>
            </a:r>
          </a:p>
          <a:p>
            <a:pPr lvl="1"/>
            <a:r>
              <a:rPr lang="en-US" dirty="0"/>
              <a:t>Total count including Hannah’s samples = 71</a:t>
            </a:r>
          </a:p>
          <a:p>
            <a:r>
              <a:rPr lang="en-US" dirty="0"/>
              <a:t>Downloaded 79 sporophyte </a:t>
            </a:r>
            <a:r>
              <a:rPr lang="en-US" dirty="0" err="1"/>
              <a:t>RNAseq</a:t>
            </a:r>
            <a:r>
              <a:rPr lang="en-US" dirty="0"/>
              <a:t> samples</a:t>
            </a:r>
          </a:p>
          <a:p>
            <a:pPr lvl="1"/>
            <a:r>
              <a:rPr lang="en-US" dirty="0"/>
              <a:t>Total count including Hannah’s = 109</a:t>
            </a:r>
          </a:p>
          <a:p>
            <a:r>
              <a:rPr lang="en-US" dirty="0"/>
              <a:t>Mapped NCBI reads and got expression counts</a:t>
            </a:r>
          </a:p>
          <a:p>
            <a:r>
              <a:rPr lang="en-US" dirty="0"/>
              <a:t>WGCNA on all gametophyte and all sporophyte samples (separately)</a:t>
            </a:r>
          </a:p>
          <a:p>
            <a:r>
              <a:rPr lang="en-US" dirty="0"/>
              <a:t>TGCN on all gametophyte and all sporophyte samples (separately)</a:t>
            </a:r>
          </a:p>
        </p:txBody>
      </p:sp>
    </p:spTree>
    <p:extLst>
      <p:ext uri="{BB962C8B-B14F-4D97-AF65-F5344CB8AC3E}">
        <p14:creationId xmlns:p14="http://schemas.microsoft.com/office/powerpoint/2010/main" val="3233307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4A5E-A207-68FF-15A7-F505B7C8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035"/>
          </a:xfrm>
        </p:spPr>
        <p:txBody>
          <a:bodyPr>
            <a:normAutofit fontScale="90000"/>
          </a:bodyPr>
          <a:lstStyle/>
          <a:p>
            <a:r>
              <a:rPr lang="en-US" dirty="0"/>
              <a:t>Gametophyte MDS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63CEA-6B61-739A-B158-33729F267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537"/>
            <a:ext cx="10515600" cy="481842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100A5-14B9-3B94-5155-23E4C39D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5" y="978160"/>
            <a:ext cx="9531531" cy="587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38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975471-4871-0415-2B3E-B55CF4D9B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13916" y="1707486"/>
            <a:ext cx="6370917" cy="3930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7BF576-03AA-9B59-795E-2F2E599AC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40146" y="1707484"/>
            <a:ext cx="6370919" cy="393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62EF8-A537-2555-14BA-D1D7D793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20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Gametophyte LFY expression</a:t>
            </a:r>
          </a:p>
        </p:txBody>
      </p:sp>
    </p:spTree>
    <p:extLst>
      <p:ext uri="{BB962C8B-B14F-4D97-AF65-F5344CB8AC3E}">
        <p14:creationId xmlns:p14="http://schemas.microsoft.com/office/powerpoint/2010/main" val="3298944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6F33-68CF-CF8D-D9E7-2E2AC465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514E-B454-0C71-5B73-8CF3DAEF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309"/>
            <a:ext cx="10515600" cy="314144"/>
          </a:xfrm>
        </p:spPr>
        <p:txBody>
          <a:bodyPr>
            <a:normAutofit fontScale="90000"/>
          </a:bodyPr>
          <a:lstStyle/>
          <a:p>
            <a:r>
              <a:rPr lang="en-US" dirty="0"/>
              <a:t>Sporophyte MDS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98F8A-9FD0-0CD2-C045-6A45A60CA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27017"/>
            <a:ext cx="10585763" cy="654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32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2D6D-57F7-7F6B-019C-76EC9A55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4E80-F54E-78B0-0A02-F3101558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20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Sporophyte LFY expression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45987-ED32-5BB7-DEEE-5F0D3B827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1524" y="1730244"/>
            <a:ext cx="6337356" cy="3918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50AC0E-4970-3062-1505-14DD86DB6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313122" y="1730244"/>
            <a:ext cx="6337356" cy="39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72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6F49-B269-5BF5-0F5F-7C5F8E32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7652"/>
          </a:xfrm>
        </p:spPr>
        <p:txBody>
          <a:bodyPr>
            <a:normAutofit fontScale="90000"/>
          </a:bodyPr>
          <a:lstStyle/>
          <a:p>
            <a:r>
              <a:rPr lang="en-US" dirty="0"/>
              <a:t>WGCNA LFY Module Size (more samples mostly did not help)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350E69-8D5F-136D-E721-DD30A94B9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445584"/>
              </p:ext>
            </p:extLst>
          </p:nvPr>
        </p:nvGraphicFramePr>
        <p:xfrm>
          <a:off x="838202" y="1825625"/>
          <a:ext cx="454369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432">
                  <a:extLst>
                    <a:ext uri="{9D8B030D-6E8A-4147-A177-3AD203B41FA5}">
                      <a16:colId xmlns:a16="http://schemas.microsoft.com/office/drawing/2014/main" val="3007908816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88569806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991809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17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McConnell 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2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 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932856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0F8D06A-6568-D9BD-73DB-EC559643D5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368891"/>
              </p:ext>
            </p:extLst>
          </p:nvPr>
        </p:nvGraphicFramePr>
        <p:xfrm>
          <a:off x="6810104" y="1825625"/>
          <a:ext cx="411044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501">
                  <a:extLst>
                    <a:ext uri="{9D8B030D-6E8A-4147-A177-3AD203B41FA5}">
                      <a16:colId xmlns:a16="http://schemas.microsoft.com/office/drawing/2014/main" val="3007908816"/>
                    </a:ext>
                  </a:extLst>
                </a:gridCol>
                <a:gridCol w="1204652">
                  <a:extLst>
                    <a:ext uri="{9D8B030D-6E8A-4147-A177-3AD203B41FA5}">
                      <a16:colId xmlns:a16="http://schemas.microsoft.com/office/drawing/2014/main" val="885698067"/>
                    </a:ext>
                  </a:extLst>
                </a:gridCol>
                <a:gridCol w="1515292">
                  <a:extLst>
                    <a:ext uri="{9D8B030D-6E8A-4147-A177-3AD203B41FA5}">
                      <a16:colId xmlns:a16="http://schemas.microsoft.com/office/drawing/2014/main" val="3991809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17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McConnell 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2,521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2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 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6,459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932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33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399D-7D78-DB32-7597-B7A9074E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TGCN LFY1 gametophyte maybe looks better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9B904-9E08-3C91-1007-41117D391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2" y="2534194"/>
            <a:ext cx="5844458" cy="3605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06D268-2752-51F1-9073-A53BEE408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142" y="2534194"/>
            <a:ext cx="6053858" cy="37394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E569F3-54B3-0F64-B3F1-CAA4A5F2A0BF}"/>
              </a:ext>
            </a:extLst>
          </p:cNvPr>
          <p:cNvSpPr txBox="1"/>
          <p:nvPr/>
        </p:nvSpPr>
        <p:spPr>
          <a:xfrm>
            <a:off x="1789611" y="16589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0A9C6-3AD1-75A5-CF7E-034EC460ACD9}"/>
              </a:ext>
            </a:extLst>
          </p:cNvPr>
          <p:cNvSpPr txBox="1"/>
          <p:nvPr/>
        </p:nvSpPr>
        <p:spPr>
          <a:xfrm>
            <a:off x="8616431" y="1699958"/>
            <a:ext cx="154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Gametophyte</a:t>
            </a:r>
          </a:p>
        </p:txBody>
      </p:sp>
    </p:spTree>
    <p:extLst>
      <p:ext uri="{BB962C8B-B14F-4D97-AF65-F5344CB8AC3E}">
        <p14:creationId xmlns:p14="http://schemas.microsoft.com/office/powerpoint/2010/main" val="17451381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F720E-2147-A29C-4807-27D435C6D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65DB-7529-6AB5-4E14-E1F3F1CE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TGCN LFY1 sporophyte…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2137F-4680-549C-F775-E3C9AB34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2" y="2534194"/>
            <a:ext cx="5844458" cy="3605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9AFE3-4407-A255-59DE-15B2C54904BE}"/>
              </a:ext>
            </a:extLst>
          </p:cNvPr>
          <p:cNvSpPr txBox="1"/>
          <p:nvPr/>
        </p:nvSpPr>
        <p:spPr>
          <a:xfrm>
            <a:off x="1789611" y="16589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65DB9-4F6C-D5C9-52DB-3F61105E57EB}"/>
              </a:ext>
            </a:extLst>
          </p:cNvPr>
          <p:cNvSpPr txBox="1"/>
          <p:nvPr/>
        </p:nvSpPr>
        <p:spPr>
          <a:xfrm>
            <a:off x="8616431" y="1699958"/>
            <a:ext cx="1328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Sporophyte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1C7D5-E152-5C44-D724-2AA99BDC6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859" y="2815658"/>
            <a:ext cx="5381141" cy="332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802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5507-3B8E-C426-4E89-936EB86C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296F-0FE6-0FAA-3E8D-83310B2D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TGCN LFY2 gametophyte maybe looks better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CBEB1-83D1-9767-E416-483C50C8E849}"/>
              </a:ext>
            </a:extLst>
          </p:cNvPr>
          <p:cNvSpPr txBox="1"/>
          <p:nvPr/>
        </p:nvSpPr>
        <p:spPr>
          <a:xfrm>
            <a:off x="1789611" y="16589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B43A2-33C5-7D4B-0464-FE8FE8BAB9C3}"/>
              </a:ext>
            </a:extLst>
          </p:cNvPr>
          <p:cNvSpPr txBox="1"/>
          <p:nvPr/>
        </p:nvSpPr>
        <p:spPr>
          <a:xfrm>
            <a:off x="8616431" y="1699958"/>
            <a:ext cx="154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Gametophyte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1E0A8-499F-5166-5E04-A7B42193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39" y="3082834"/>
            <a:ext cx="5768362" cy="35630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25DBD5-976B-6D99-B754-49C3FB3A8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19" y="2992566"/>
            <a:ext cx="5775920" cy="356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59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D7D5-EDF5-973C-BFA8-85DE5EB9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2164-5C7F-76F5-6D83-DC8809C1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TGCN LFY2 sporophyte maybe looks better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F1BA3-9AD0-6FA9-4869-C1BF61CB01A9}"/>
              </a:ext>
            </a:extLst>
          </p:cNvPr>
          <p:cNvSpPr txBox="1"/>
          <p:nvPr/>
        </p:nvSpPr>
        <p:spPr>
          <a:xfrm>
            <a:off x="1789611" y="16589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3500E-C107-1ADD-2D96-B1F329CAF3A7}"/>
              </a:ext>
            </a:extLst>
          </p:cNvPr>
          <p:cNvSpPr txBox="1"/>
          <p:nvPr/>
        </p:nvSpPr>
        <p:spPr>
          <a:xfrm>
            <a:off x="8616431" y="1699958"/>
            <a:ext cx="13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sporophyte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60552B-D624-6C21-B8AF-32ED8DEBA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19" y="2992566"/>
            <a:ext cx="5775920" cy="3563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2089E5-5127-D6DE-67DA-68777B3B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88" y="2815657"/>
            <a:ext cx="6054766" cy="37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28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63BF05-1C8E-A0BD-9559-F1BB347A32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May 5, 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BC00B8-75E4-BB5D-B0D4-1F07A4834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110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BEA6-6432-FED9-938B-2A77D59A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US" dirty="0"/>
              <a:t>MADS box enrichment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B90DB7-7DCF-F4C6-324F-002FDA195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781634"/>
              </p:ext>
            </p:extLst>
          </p:nvPr>
        </p:nvGraphicFramePr>
        <p:xfrm>
          <a:off x="838199" y="1825625"/>
          <a:ext cx="8085888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348">
                  <a:extLst>
                    <a:ext uri="{9D8B030D-6E8A-4147-A177-3AD203B41FA5}">
                      <a16:colId xmlns:a16="http://schemas.microsoft.com/office/drawing/2014/main" val="375735781"/>
                    </a:ext>
                  </a:extLst>
                </a:gridCol>
                <a:gridCol w="1588948">
                  <a:extLst>
                    <a:ext uri="{9D8B030D-6E8A-4147-A177-3AD203B41FA5}">
                      <a16:colId xmlns:a16="http://schemas.microsoft.com/office/drawing/2014/main" val="2698401654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3607594377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391318836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1839433159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2871189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Genes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MADS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7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3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2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0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7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3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98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8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58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AA61-D8B8-D611-D3B1-6DEF3A7F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769"/>
          </a:xfrm>
        </p:spPr>
        <p:txBody>
          <a:bodyPr/>
          <a:lstStyle/>
          <a:p>
            <a:r>
              <a:rPr lang="en-US" dirty="0"/>
              <a:t>LFY binding site enrichment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23580-C9AD-4AAA-A33D-9A75BE31A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895"/>
            <a:ext cx="10515600" cy="4806480"/>
          </a:xfrm>
        </p:spPr>
        <p:txBody>
          <a:bodyPr/>
          <a:lstStyle/>
          <a:p>
            <a:r>
              <a:rPr lang="en-US" dirty="0"/>
              <a:t>I used the Arabidopsis site (because the PWM is in the database)</a:t>
            </a:r>
          </a:p>
          <a:p>
            <a:pPr marL="0" indent="0">
              <a:buNone/>
            </a:pPr>
            <a:r>
              <a:rPr lang="en-US" dirty="0"/>
              <a:t>(but it is VERY similar to CrLFY2 from </a:t>
            </a:r>
            <a:r>
              <a:rPr lang="en-US" dirty="0" err="1"/>
              <a:t>Sayou</a:t>
            </a:r>
            <a:r>
              <a:rPr lang="en-US" dirty="0"/>
              <a:t> et al.)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76E760-1586-D708-EF34-CBBEB5C91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5948" y="2152158"/>
            <a:ext cx="4512831" cy="2256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1B3434-FE1D-026D-B9E8-814AFA5C1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090" y="4721957"/>
            <a:ext cx="4462546" cy="193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9278FF-5041-4DF8-B237-9FCC122AAE67}"/>
              </a:ext>
            </a:extLst>
          </p:cNvPr>
          <p:cNvSpPr txBox="1"/>
          <p:nvPr/>
        </p:nvSpPr>
        <p:spPr>
          <a:xfrm>
            <a:off x="4380349" y="2199189"/>
            <a:ext cx="1496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Arabidopsis</a:t>
            </a:r>
          </a:p>
        </p:txBody>
      </p:sp>
    </p:spTree>
    <p:extLst>
      <p:ext uri="{BB962C8B-B14F-4D97-AF65-F5344CB8AC3E}">
        <p14:creationId xmlns:p14="http://schemas.microsoft.com/office/powerpoint/2010/main" val="41939570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5C80-6FF4-84CE-2D27-671E89F2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321"/>
          </a:xfrm>
        </p:spPr>
        <p:txBody>
          <a:bodyPr/>
          <a:lstStyle/>
          <a:p>
            <a:r>
              <a:rPr lang="en-US" dirty="0"/>
              <a:t>LFY binding site enrichment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99EAB0-FE60-8B18-B09E-8C53E4C95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549476"/>
              </p:ext>
            </p:extLst>
          </p:nvPr>
        </p:nvGraphicFramePr>
        <p:xfrm>
          <a:off x="838199" y="1293189"/>
          <a:ext cx="10423968" cy="4135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255">
                  <a:extLst>
                    <a:ext uri="{9D8B030D-6E8A-4147-A177-3AD203B41FA5}">
                      <a16:colId xmlns:a16="http://schemas.microsoft.com/office/drawing/2014/main" val="375735781"/>
                    </a:ext>
                  </a:extLst>
                </a:gridCol>
                <a:gridCol w="1589916">
                  <a:extLst>
                    <a:ext uri="{9D8B030D-6E8A-4147-A177-3AD203B41FA5}">
                      <a16:colId xmlns:a16="http://schemas.microsoft.com/office/drawing/2014/main" val="2698401654"/>
                    </a:ext>
                  </a:extLst>
                </a:gridCol>
                <a:gridCol w="949124">
                  <a:extLst>
                    <a:ext uri="{9D8B030D-6E8A-4147-A177-3AD203B41FA5}">
                      <a16:colId xmlns:a16="http://schemas.microsoft.com/office/drawing/2014/main" val="3607594377"/>
                    </a:ext>
                  </a:extLst>
                </a:gridCol>
                <a:gridCol w="1805650">
                  <a:extLst>
                    <a:ext uri="{9D8B030D-6E8A-4147-A177-3AD203B41FA5}">
                      <a16:colId xmlns:a16="http://schemas.microsoft.com/office/drawing/2014/main" val="391318836"/>
                    </a:ext>
                  </a:extLst>
                </a:gridCol>
                <a:gridCol w="2071869">
                  <a:extLst>
                    <a:ext uri="{9D8B030D-6E8A-4147-A177-3AD203B41FA5}">
                      <a16:colId xmlns:a16="http://schemas.microsoft.com/office/drawing/2014/main" val="1839433159"/>
                    </a:ext>
                  </a:extLst>
                </a:gridCol>
                <a:gridCol w="2581154">
                  <a:extLst>
                    <a:ext uri="{9D8B030D-6E8A-4147-A177-3AD203B41FA5}">
                      <a16:colId xmlns:a16="http://schemas.microsoft.com/office/drawing/2014/main" val="2871189003"/>
                    </a:ext>
                  </a:extLst>
                </a:gridCol>
              </a:tblGrid>
              <a:tr h="733877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LFY sites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LFY sites outside of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73581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30490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20335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03657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75192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846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35406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98915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83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ADE5CE-F9C0-732A-D819-C5BA94FD94A9}"/>
              </a:ext>
            </a:extLst>
          </p:cNvPr>
          <p:cNvSpPr txBox="1"/>
          <p:nvPr/>
        </p:nvSpPr>
        <p:spPr>
          <a:xfrm>
            <a:off x="740780" y="5645273"/>
            <a:ext cx="8708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t-test…probably not best choice for count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results defining promoter as 5,000bp upstream.  (tried 1500; 3000; 5000; 7500) </a:t>
            </a:r>
          </a:p>
        </p:txBody>
      </p:sp>
    </p:spTree>
    <p:extLst>
      <p:ext uri="{BB962C8B-B14F-4D97-AF65-F5344CB8AC3E}">
        <p14:creationId xmlns:p14="http://schemas.microsoft.com/office/powerpoint/2010/main" val="15431414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C725-7ECD-4400-0396-9F576DA28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9665"/>
          </a:xfrm>
        </p:spPr>
        <p:txBody>
          <a:bodyPr/>
          <a:lstStyle/>
          <a:p>
            <a:r>
              <a:rPr lang="en-US" dirty="0"/>
              <a:t>Single cell / nuclei </a:t>
            </a:r>
            <a:r>
              <a:rPr lang="en-US" dirty="0" err="1"/>
              <a:t>RNAseq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CC3F-63CA-AF81-76A0-EFAF0ED7A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559"/>
            <a:ext cx="10515600" cy="4695404"/>
          </a:xfrm>
        </p:spPr>
        <p:txBody>
          <a:bodyPr/>
          <a:lstStyle/>
          <a:p>
            <a:r>
              <a:rPr lang="en-US" dirty="0"/>
              <a:t>Had a meeting with </a:t>
            </a:r>
            <a:r>
              <a:rPr lang="en-US" dirty="0" err="1"/>
              <a:t>Azeneta</a:t>
            </a:r>
            <a:r>
              <a:rPr lang="en-US" dirty="0"/>
              <a:t>/</a:t>
            </a:r>
            <a:r>
              <a:rPr lang="en-US" dirty="0" err="1"/>
              <a:t>Genewiz</a:t>
            </a:r>
            <a:endParaRPr lang="en-US" dirty="0"/>
          </a:p>
          <a:p>
            <a:r>
              <a:rPr lang="en-US" dirty="0"/>
              <a:t>They have done this on most/all crops</a:t>
            </a:r>
          </a:p>
          <a:p>
            <a:r>
              <a:rPr lang="en-US" dirty="0"/>
              <a:t>Prefer us to send cryo-preserved protoplasts</a:t>
            </a:r>
          </a:p>
          <a:p>
            <a:r>
              <a:rPr lang="en-US" dirty="0"/>
              <a:t>Cell vs nuclei: maximum cell size 50uM</a:t>
            </a:r>
          </a:p>
          <a:p>
            <a:r>
              <a:rPr lang="en-US" dirty="0"/>
              <a:t>Young plants work better for nuclear isolation</a:t>
            </a:r>
          </a:p>
          <a:p>
            <a:r>
              <a:rPr lang="en-US" dirty="0"/>
              <a:t>If we did four samples, ~ $1853 per sample; $</a:t>
            </a:r>
            <a:r>
              <a:rPr lang="en-US"/>
              <a:t>7500 total.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9333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1535D1-3C20-E986-F9C2-CE3FFD20B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June 10, 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805173-E22D-9BAF-B561-9FD6D83F70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290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BF7A-6949-5BB0-E32C-CEDA346F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“How come Marchant reports so many more expressed genes?”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327C9-DD9B-A019-228E-62C33D5D6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7996"/>
          </a:xfrm>
        </p:spPr>
        <p:txBody>
          <a:bodyPr/>
          <a:lstStyle/>
          <a:p>
            <a:r>
              <a:rPr lang="en-US" dirty="0"/>
              <a:t>Marchant: 33,301 expressed in gametophyte</a:t>
            </a:r>
          </a:p>
          <a:p>
            <a:pPr lvl="1"/>
            <a:r>
              <a:rPr lang="en-US" dirty="0"/>
              <a:t>Methods do not define criteria for “expressed”</a:t>
            </a:r>
          </a:p>
          <a:p>
            <a:r>
              <a:rPr lang="en-US" dirty="0"/>
              <a:t>Maloof (NCBI): 27,206 expressed in gametophyte</a:t>
            </a:r>
          </a:p>
          <a:p>
            <a:pPr lvl="1"/>
            <a:r>
              <a:rPr lang="en-US" dirty="0"/>
              <a:t>Criteria: &gt; 5 counts in &gt;= 3 samples</a:t>
            </a:r>
          </a:p>
          <a:p>
            <a:pPr lvl="1"/>
            <a:r>
              <a:rPr lang="en-US" dirty="0"/>
              <a:t>If I use &gt; 0 counts in &gt; 0 samples I get 32,310</a:t>
            </a:r>
          </a:p>
          <a:p>
            <a:r>
              <a:rPr lang="en-US" dirty="0"/>
              <a:t>Maloof (McConnell-All gam): </a:t>
            </a:r>
          </a:p>
          <a:p>
            <a:pPr lvl="1"/>
            <a:r>
              <a:rPr lang="en-US" dirty="0"/>
              <a:t>&gt; 5 counts &gt;= 3 samples = 24,775</a:t>
            </a:r>
          </a:p>
          <a:p>
            <a:pPr lvl="1"/>
            <a:r>
              <a:rPr lang="en-US" dirty="0"/>
              <a:t>&gt; 0 counts &gt; 0 samples = 30,628</a:t>
            </a:r>
          </a:p>
          <a:p>
            <a:r>
              <a:rPr lang="en-US" dirty="0"/>
              <a:t>Maloof (McConnell-Male vs Herm):</a:t>
            </a:r>
          </a:p>
          <a:p>
            <a:pPr lvl="1"/>
            <a:r>
              <a:rPr lang="en-US" dirty="0"/>
              <a:t>&gt; 5 counts &gt;= 3 samples = 22,719</a:t>
            </a:r>
          </a:p>
          <a:p>
            <a:pPr lvl="1"/>
            <a:r>
              <a:rPr lang="en-US" dirty="0"/>
              <a:t>&gt; 0 counts &gt;= 0 samples = 28,614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2751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61AF-0CA5-6AA3-AD62-48B9D9DA0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draft of methods for males vs hermaphrodites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C0F60-BEC4-B091-2D06-75374CEC4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172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A2F5-DD89-A8C8-A5D4-E1848302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Redid gametophyte networks without 4.5 DAG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0A3E3-8A9C-D5E1-4EAE-49CDB3FC4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picture results similar…</a:t>
            </a:r>
          </a:p>
        </p:txBody>
      </p:sp>
    </p:spTree>
    <p:extLst>
      <p:ext uri="{BB962C8B-B14F-4D97-AF65-F5344CB8AC3E}">
        <p14:creationId xmlns:p14="http://schemas.microsoft.com/office/powerpoint/2010/main" val="25298783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DAF3-9011-0C82-0943-32E5BFCE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793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LFY1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72FAE-7082-2E0B-3BD3-3D612ACA9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78962"/>
            <a:ext cx="11235267" cy="5909705"/>
          </a:xfrm>
        </p:spPr>
        <p:txBody>
          <a:bodyPr/>
          <a:lstStyle/>
          <a:p>
            <a:r>
              <a:rPr lang="en-US" dirty="0"/>
              <a:t>The genes most correlated with LFY1 are expressed higher in males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FA76A-6C1C-4673-C9CA-C21AEEBFD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026"/>
            <a:ext cx="8831179" cy="54478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AF0488-2BC5-746F-5FD1-17BF315E480B}"/>
              </a:ext>
            </a:extLst>
          </p:cNvPr>
          <p:cNvSpPr txBox="1"/>
          <p:nvPr/>
        </p:nvSpPr>
        <p:spPr>
          <a:xfrm>
            <a:off x="9345926" y="2081463"/>
            <a:ext cx="24905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(Maybe I should redo this excluding Hannah’s male vs hermaphrodite samples from the network…)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2459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8D0F6-2CC1-65BC-48A5-107F26A0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A4AF-4D9D-D9C5-F210-ED28572F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LFY1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80C48-B1CA-776A-9F10-69DA02B4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Looking at mutual correlation rank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A25F6-C76D-9E4E-C6D1-6A0CE7487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91916"/>
            <a:ext cx="8698705" cy="536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496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95703-8235-DDAE-33BA-40730BFD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24EF-F97C-068C-0AD7-1890692E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LFY1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4C237-EDB0-170B-3A63-CC6FDC005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Looking at LFY1 correlation rank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D4517-4FDF-6C3C-FA99-7EB654A3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32427"/>
            <a:ext cx="8470233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702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C812-1ABE-D8DA-6C9F-40D6EF7F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DE98-86A2-4E6D-4688-9D4BFE99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LFY2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5F31A-904D-7EE1-654B-D4EE75DEB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Not much pattern with LFY2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0DEE3-8427-B637-4BC0-13DCD10BBACE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07B65E-D1C4-E922-5E3D-5DA5534A8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698213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703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0C52-BC0A-86CB-C7FC-E720C79F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DED9-5F78-557D-B3D5-381B0C64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LFY2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FF0B5-7A68-4012-77C0-2D134451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Looking at mutual correlation rank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8D9E40-EB3D-C7FB-A5A4-8C952704B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8213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80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665F-659E-EA41-6B4C-651E327E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0A5D-A6B9-2F36-62BB-18E23697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LFY2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39A9-C479-DEB4-A7DC-3C94738C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Looking at LFY2 correlation rank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6F41F-A6A6-B332-5DA5-2D8BFBFB6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66" y="1827536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497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6FC157-0130-4EBE-DD66-038ABBEC1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June 20, 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7FBA964-0D71-FD48-8174-6FD6AA4DC4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15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2257-2E01-55C9-8F46-16158CEC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26960"/>
          </a:xfrm>
        </p:spPr>
        <p:txBody>
          <a:bodyPr>
            <a:normAutofit fontScale="90000"/>
          </a:bodyPr>
          <a:lstStyle/>
          <a:p>
            <a:r>
              <a:rPr lang="en-US" dirty="0"/>
              <a:t>The relationship between male/hermaphrodite DEG genes and the LFY1 network persists when I build the network without the male/hermaphrodite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52F3F-F5DC-F4F0-E666-D22062BF7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3971"/>
            <a:ext cx="10515600" cy="379299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EC05A-4A3B-B6AB-1EC3-1420249EF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636" y="2533338"/>
            <a:ext cx="6895002" cy="4253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2CCD48-BDCB-9A27-B766-D9A26C0CE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3338"/>
            <a:ext cx="6895002" cy="4253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B0CC49-D091-C2EF-4DEB-89AD80E5B9C3}"/>
              </a:ext>
            </a:extLst>
          </p:cNvPr>
          <p:cNvSpPr txBox="1"/>
          <p:nvPr/>
        </p:nvSpPr>
        <p:spPr>
          <a:xfrm>
            <a:off x="4209860" y="2607092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00675-9D14-D9E0-6DF3-9B7E0B281C20}"/>
              </a:ext>
            </a:extLst>
          </p:cNvPr>
          <p:cNvSpPr txBox="1"/>
          <p:nvPr/>
        </p:nvSpPr>
        <p:spPr>
          <a:xfrm>
            <a:off x="9264871" y="2653259"/>
            <a:ext cx="2800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New: male/herm samples </a:t>
            </a:r>
          </a:p>
          <a:p>
            <a:r>
              <a:rPr lang="en-US" dirty="0"/>
              <a:t>removed</a:t>
            </a:r>
          </a:p>
        </p:txBody>
      </p:sp>
    </p:spTree>
    <p:extLst>
      <p:ext uri="{BB962C8B-B14F-4D97-AF65-F5344CB8AC3E}">
        <p14:creationId xmlns:p14="http://schemas.microsoft.com/office/powerpoint/2010/main" val="7104034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C4D1-467F-3EAB-85E5-64B1F4967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177"/>
          </a:xfrm>
        </p:spPr>
        <p:txBody>
          <a:bodyPr/>
          <a:lstStyle/>
          <a:p>
            <a:r>
              <a:rPr lang="en-US" dirty="0"/>
              <a:t>Trying to ID genes in the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086C2-1C1D-21D2-47AF-E4131D2B2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223"/>
            <a:ext cx="10515600" cy="4992740"/>
          </a:xfrm>
        </p:spPr>
        <p:txBody>
          <a:bodyPr/>
          <a:lstStyle/>
          <a:p>
            <a:r>
              <a:rPr lang="en-US" dirty="0"/>
              <a:t>First attempt: use WGCNA modules</a:t>
            </a:r>
          </a:p>
          <a:p>
            <a:r>
              <a:rPr lang="en-US" dirty="0"/>
              <a:t>Maybe Turquoise?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92570-B1A4-25D3-F750-E285387BE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63338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0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78798-9009-85D2-C348-F2150335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187-106A-F394-D798-E4FE70DE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55"/>
            <a:ext cx="10515600" cy="699177"/>
          </a:xfrm>
        </p:spPr>
        <p:txBody>
          <a:bodyPr/>
          <a:lstStyle/>
          <a:p>
            <a:r>
              <a:rPr lang="en-US" dirty="0"/>
              <a:t>Trying to ID genes in the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36C0A-0045-0765-A63D-03FB18823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13"/>
            <a:ext cx="10515600" cy="4992740"/>
          </a:xfrm>
        </p:spPr>
        <p:txBody>
          <a:bodyPr/>
          <a:lstStyle/>
          <a:p>
            <a:r>
              <a:rPr lang="en-US" dirty="0"/>
              <a:t>First attempt: use WGCNA modules</a:t>
            </a:r>
          </a:p>
          <a:p>
            <a:r>
              <a:rPr lang="en-US" dirty="0"/>
              <a:t>Maybe Turquoise? Yes, but too broad and not specific enough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E9B88-0E6D-2B12-8FA3-E1D52262D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787" y="2586818"/>
            <a:ext cx="6014213" cy="37100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62C657-8F9D-302D-1834-9D7176D48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73" y="2526856"/>
            <a:ext cx="6014214" cy="37100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23C205-90D8-F1DE-95C2-D71D24B3F11F}"/>
              </a:ext>
            </a:extLst>
          </p:cNvPr>
          <p:cNvSpPr txBox="1"/>
          <p:nvPr/>
        </p:nvSpPr>
        <p:spPr>
          <a:xfrm>
            <a:off x="838200" y="2496875"/>
            <a:ext cx="2253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turquoise on 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A3EEDC-62E3-7FB7-3079-F1ED8744E817}"/>
              </a:ext>
            </a:extLst>
          </p:cNvPr>
          <p:cNvSpPr txBox="1"/>
          <p:nvPr/>
        </p:nvSpPr>
        <p:spPr>
          <a:xfrm>
            <a:off x="6847696" y="2496875"/>
            <a:ext cx="2652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turquoise on bottom</a:t>
            </a:r>
          </a:p>
        </p:txBody>
      </p:sp>
    </p:spTree>
    <p:extLst>
      <p:ext uri="{BB962C8B-B14F-4D97-AF65-F5344CB8AC3E}">
        <p14:creationId xmlns:p14="http://schemas.microsoft.com/office/powerpoint/2010/main" val="15831419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B2F27-FAFD-98EB-0CB7-EC011927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E9D5-B85C-A53F-08DE-9AD78AB9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55"/>
            <a:ext cx="10515600" cy="699177"/>
          </a:xfrm>
        </p:spPr>
        <p:txBody>
          <a:bodyPr/>
          <a:lstStyle/>
          <a:p>
            <a:r>
              <a:rPr lang="en-US" dirty="0"/>
              <a:t>Trying to ID genes in the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950DC-87E0-B546-B675-1F85E085F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13"/>
            <a:ext cx="10515600" cy="4992740"/>
          </a:xfrm>
        </p:spPr>
        <p:txBody>
          <a:bodyPr/>
          <a:lstStyle/>
          <a:p>
            <a:r>
              <a:rPr lang="en-US" dirty="0"/>
              <a:t>Second attempt: density-based clustering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CA6D3C-8B5A-0C19-7FE9-42134634F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2252"/>
            <a:ext cx="6655633" cy="4105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3FEE4-F4B5-DCA3-183E-8916B53C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52253"/>
            <a:ext cx="6655633" cy="41057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8094D0-790B-D043-F70C-4B22134EF593}"/>
              </a:ext>
            </a:extLst>
          </p:cNvPr>
          <p:cNvSpPr txBox="1"/>
          <p:nvPr/>
        </p:nvSpPr>
        <p:spPr>
          <a:xfrm>
            <a:off x="418475" y="3059668"/>
            <a:ext cx="1995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cluster on 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95DD42-1CF6-B59E-FD12-0AA2CAA036E6}"/>
              </a:ext>
            </a:extLst>
          </p:cNvPr>
          <p:cNvSpPr txBox="1"/>
          <p:nvPr/>
        </p:nvSpPr>
        <p:spPr>
          <a:xfrm>
            <a:off x="6453265" y="3026451"/>
            <a:ext cx="2394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cluster on bottom</a:t>
            </a:r>
          </a:p>
        </p:txBody>
      </p:sp>
    </p:spTree>
    <p:extLst>
      <p:ext uri="{BB962C8B-B14F-4D97-AF65-F5344CB8AC3E}">
        <p14:creationId xmlns:p14="http://schemas.microsoft.com/office/powerpoint/2010/main" val="36247313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6C8C-1E87-BA20-8C37-FDAD4922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2521-E8E8-9115-D3C8-2C88D65B1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55"/>
            <a:ext cx="10515600" cy="699177"/>
          </a:xfrm>
        </p:spPr>
        <p:txBody>
          <a:bodyPr/>
          <a:lstStyle/>
          <a:p>
            <a:r>
              <a:rPr lang="en-US" dirty="0"/>
              <a:t>Trying to ID genes in the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59A93-390C-E975-D91A-CF69F179E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13"/>
            <a:ext cx="10515600" cy="4992740"/>
          </a:xfrm>
        </p:spPr>
        <p:txBody>
          <a:bodyPr/>
          <a:lstStyle/>
          <a:p>
            <a:r>
              <a:rPr lang="en-US" dirty="0"/>
              <a:t>Second attempt: density-based clustering</a:t>
            </a:r>
          </a:p>
          <a:p>
            <a:r>
              <a:rPr lang="en-US" dirty="0"/>
              <a:t>View using correlation axis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3ED43-794E-D933-FBC2-61F4CB94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93083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137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1482-8A90-EAD3-19CA-7CB12CE3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3A7F-0A12-B463-D47D-581CBE0B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55"/>
            <a:ext cx="10515600" cy="699177"/>
          </a:xfrm>
        </p:spPr>
        <p:txBody>
          <a:bodyPr/>
          <a:lstStyle/>
          <a:p>
            <a:r>
              <a:rPr lang="en-US"/>
              <a:t>There are 1180 genes in the cluster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D1C95-0C5D-7E41-4329-DA6A7C9B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13"/>
            <a:ext cx="10515600" cy="49927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C0627-15C5-6887-3A9F-9B0610E11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03" y="965848"/>
            <a:ext cx="9275498" cy="572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962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65E7-B132-8D12-AE31-0996FD26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 fontScale="90000"/>
          </a:bodyPr>
          <a:lstStyle/>
          <a:p>
            <a:r>
              <a:rPr lang="en-US" dirty="0"/>
              <a:t>GO enrichment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28C41-01FB-25A6-86CA-B29909350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8" y="1603948"/>
            <a:ext cx="11892284" cy="33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29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4C22-EDB6-0517-E6CE-211082D79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9000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3862-A9D6-5374-0526-32BD96E7A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997"/>
            <a:ext cx="10515600" cy="4647966"/>
          </a:xfrm>
        </p:spPr>
        <p:txBody>
          <a:bodyPr/>
          <a:lstStyle/>
          <a:p>
            <a:r>
              <a:rPr lang="en-US" i="1" dirty="0"/>
              <a:t>A priori </a:t>
            </a:r>
            <a:r>
              <a:rPr lang="en-US" dirty="0"/>
              <a:t>gene location in network</a:t>
            </a:r>
          </a:p>
          <a:p>
            <a:r>
              <a:rPr lang="en-US" dirty="0"/>
              <a:t>Compare location of </a:t>
            </a:r>
            <a:r>
              <a:rPr lang="en-US" i="1" dirty="0"/>
              <a:t>a priori</a:t>
            </a:r>
            <a:r>
              <a:rPr lang="en-US" dirty="0"/>
              <a:t> genes in </a:t>
            </a:r>
            <a:r>
              <a:rPr lang="en-US" i="1" dirty="0"/>
              <a:t>C. </a:t>
            </a:r>
            <a:r>
              <a:rPr lang="en-US" i="1" dirty="0" err="1"/>
              <a:t>richardii</a:t>
            </a:r>
            <a:r>
              <a:rPr lang="en-US" dirty="0"/>
              <a:t> and Arabidopsis networks.</a:t>
            </a:r>
          </a:p>
        </p:txBody>
      </p:sp>
    </p:spTree>
    <p:extLst>
      <p:ext uri="{BB962C8B-B14F-4D97-AF65-F5344CB8AC3E}">
        <p14:creationId xmlns:p14="http://schemas.microsoft.com/office/powerpoint/2010/main" val="35978829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D3C66B-36A9-E95C-95E0-B55E31FB3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July 03, 2025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13849-6405-781B-A975-555E22BCD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691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C55B7D-D215-E987-CA71-7032FABB8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230"/>
          </a:xfrm>
        </p:spPr>
        <p:txBody>
          <a:bodyPr/>
          <a:lstStyle/>
          <a:p>
            <a:r>
              <a:rPr lang="en-US" dirty="0"/>
              <a:t>Reviewed 2015 Arabidopsis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7F7A59-C89D-BD35-BD0C-8769B6724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072"/>
            <a:ext cx="10515600" cy="4784891"/>
          </a:xfrm>
        </p:spPr>
        <p:txBody>
          <a:bodyPr/>
          <a:lstStyle/>
          <a:p>
            <a:r>
              <a:rPr lang="en-US" dirty="0"/>
              <a:t>Developmental Atlas approach did not work(!)</a:t>
            </a:r>
          </a:p>
          <a:p>
            <a:pPr lvl="1"/>
            <a:r>
              <a:rPr lang="en-US" dirty="0"/>
              <a:t>I tried a variety of gene subsets from the developmental atlas</a:t>
            </a:r>
          </a:p>
          <a:p>
            <a:pPr lvl="1"/>
            <a:r>
              <a:rPr lang="en-US" dirty="0"/>
              <a:t>WGCNA </a:t>
            </a:r>
            <a:r>
              <a:rPr lang="en-US" i="1" dirty="0"/>
              <a:t>LFY</a:t>
            </a:r>
            <a:r>
              <a:rPr lang="en-US" dirty="0"/>
              <a:t> module sizes 2250 – 8500</a:t>
            </a:r>
          </a:p>
          <a:p>
            <a:pPr lvl="1"/>
            <a:r>
              <a:rPr lang="en-US" dirty="0"/>
              <a:t>For the full dataset and two subsets, little enrichment for known targets</a:t>
            </a:r>
          </a:p>
          <a:p>
            <a:pPr lvl="1"/>
            <a:r>
              <a:rPr lang="en-US" dirty="0"/>
              <a:t>For a hand-selected subset focusing on diversity in </a:t>
            </a:r>
            <a:r>
              <a:rPr lang="en-US" i="1" dirty="0"/>
              <a:t>LFY</a:t>
            </a:r>
            <a:r>
              <a:rPr lang="en-US" dirty="0"/>
              <a:t> levels some target enrichment</a:t>
            </a:r>
          </a:p>
          <a:p>
            <a:r>
              <a:rPr lang="en-US" dirty="0"/>
              <a:t>What did work was a floral induction series with WT and </a:t>
            </a:r>
            <a:r>
              <a:rPr lang="en-US" i="1" dirty="0" err="1"/>
              <a:t>lfy</a:t>
            </a:r>
            <a:r>
              <a:rPr lang="en-US" dirty="0"/>
              <a:t> mutant plants</a:t>
            </a:r>
          </a:p>
          <a:p>
            <a:pPr lvl="1"/>
            <a:r>
              <a:rPr lang="en-US" dirty="0"/>
              <a:t>This is why the original grant plan (pre-budget cut) was inducible LFY constructs (along with </a:t>
            </a:r>
            <a:r>
              <a:rPr lang="en-US" dirty="0" err="1"/>
              <a:t>ChIP</a:t>
            </a:r>
            <a:r>
              <a:rPr lang="en-US" dirty="0"/>
              <a:t>-seq to ID </a:t>
            </a:r>
            <a:r>
              <a:rPr lang="en-US" i="1" dirty="0"/>
              <a:t>bona fide</a:t>
            </a:r>
            <a:r>
              <a:rPr lang="en-US" dirty="0"/>
              <a:t> targets).</a:t>
            </a:r>
          </a:p>
        </p:txBody>
      </p:sp>
    </p:spTree>
    <p:extLst>
      <p:ext uri="{BB962C8B-B14F-4D97-AF65-F5344CB8AC3E}">
        <p14:creationId xmlns:p14="http://schemas.microsoft.com/office/powerpoint/2010/main" val="326767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C5FCB8-58C1-BAF3-1C20-EF7A617FB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Dec 02, 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56C2AE3-2DBD-A6C5-49F5-A35B0475E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393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5837-6B4C-07DF-2C01-6D067CC18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for Andy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94512-ABC0-F9CC-3764-9D6A66CF1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Original Goal:</a:t>
            </a:r>
          </a:p>
          <a:p>
            <a:pPr lvl="1"/>
            <a:r>
              <a:rPr lang="en-US" dirty="0"/>
              <a:t>Define CrLFY1 and CrLFY2 GRN and make evo. </a:t>
            </a:r>
            <a:r>
              <a:rPr lang="en-US" dirty="0" err="1"/>
              <a:t>Comparisions</a:t>
            </a:r>
            <a:endParaRPr lang="en-US" dirty="0"/>
          </a:p>
          <a:p>
            <a:r>
              <a:rPr lang="en-US" dirty="0"/>
              <a:t>Original plan:</a:t>
            </a:r>
          </a:p>
          <a:p>
            <a:pPr lvl="1"/>
            <a:r>
              <a:rPr lang="en-US" dirty="0"/>
              <a:t>Inducible GR-LFY fusions</a:t>
            </a:r>
          </a:p>
          <a:p>
            <a:pPr lvl="1"/>
            <a:r>
              <a:rPr lang="en-US" dirty="0" err="1"/>
              <a:t>ChIP</a:t>
            </a:r>
            <a:r>
              <a:rPr lang="en-US" dirty="0"/>
              <a:t> on GUS or GR lines or native protein</a:t>
            </a:r>
          </a:p>
          <a:p>
            <a:pPr lvl="1"/>
            <a:r>
              <a:rPr lang="en-US" dirty="0"/>
              <a:t>CRISPR KO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inducible lines plus existing RNAi and OX lines, &amp; developmental time course</a:t>
            </a:r>
          </a:p>
          <a:p>
            <a:r>
              <a:rPr lang="en-US" dirty="0"/>
              <a:t>Funding cut</a:t>
            </a:r>
          </a:p>
          <a:p>
            <a:pPr lvl="1"/>
            <a:r>
              <a:rPr lang="en-US" dirty="0"/>
              <a:t>Plan deemed too ambition, funding cut to essentially  only find resource development</a:t>
            </a:r>
          </a:p>
          <a:p>
            <a:pPr lvl="1"/>
            <a:r>
              <a:rPr lang="en-US" dirty="0"/>
              <a:t>GR-LFY and CRISPR constructs made but not transformed…</a:t>
            </a:r>
          </a:p>
        </p:txBody>
      </p:sp>
    </p:spTree>
    <p:extLst>
      <p:ext uri="{BB962C8B-B14F-4D97-AF65-F5344CB8AC3E}">
        <p14:creationId xmlns:p14="http://schemas.microsoft.com/office/powerpoint/2010/main" val="36055971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7FE6-6106-556C-44A9-74AFEEEC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D210-0983-5607-EEE9-8F65378B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for Andy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14ED2-81B1-168A-67CA-CF8FA45C2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What we have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WT, RNAi and OX lines, multiple tissues. But RNAi and OX lines did not “behave”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mature males and hermaphrodites</a:t>
            </a:r>
          </a:p>
          <a:p>
            <a:pPr lvl="1"/>
            <a:r>
              <a:rPr lang="en-US" dirty="0"/>
              <a:t>47 gametophyte </a:t>
            </a:r>
            <a:r>
              <a:rPr lang="en-US" dirty="0" err="1"/>
              <a:t>RNAseq</a:t>
            </a:r>
            <a:r>
              <a:rPr lang="en-US" dirty="0"/>
              <a:t> samples from public domain</a:t>
            </a:r>
          </a:p>
          <a:p>
            <a:pPr lvl="1"/>
            <a:r>
              <a:rPr lang="en-US" dirty="0"/>
              <a:t>79 sporophyte </a:t>
            </a:r>
            <a:r>
              <a:rPr lang="en-US" dirty="0" err="1"/>
              <a:t>RNAseq</a:t>
            </a:r>
            <a:r>
              <a:rPr lang="en-US" dirty="0"/>
              <a:t> samples from public domain</a:t>
            </a:r>
          </a:p>
          <a:p>
            <a:r>
              <a:rPr lang="en-US" dirty="0"/>
              <a:t>What I have done</a:t>
            </a:r>
          </a:p>
          <a:p>
            <a:pPr lvl="1"/>
            <a:r>
              <a:rPr lang="en-US" dirty="0"/>
              <a:t>WGCNA networks on NCBI + Hannah samples, separately for sporophyte and gametophyte</a:t>
            </a:r>
          </a:p>
          <a:p>
            <a:pPr lvl="1"/>
            <a:r>
              <a:rPr lang="en-US" dirty="0"/>
              <a:t>TGCNA networks </a:t>
            </a:r>
          </a:p>
          <a:p>
            <a:pPr lvl="1"/>
            <a:r>
              <a:rPr lang="en-US" dirty="0"/>
              <a:t>Mutual rank networks</a:t>
            </a:r>
          </a:p>
          <a:p>
            <a:pPr lvl="1"/>
            <a:r>
              <a:rPr lang="en-US" dirty="0"/>
              <a:t>Generally </a:t>
            </a:r>
            <a:r>
              <a:rPr lang="en-US" dirty="0" err="1"/>
              <a:t>CrLFYs</a:t>
            </a:r>
            <a:r>
              <a:rPr lang="en-US" dirty="0"/>
              <a:t> are in very large modules</a:t>
            </a:r>
          </a:p>
          <a:p>
            <a:pPr lvl="1"/>
            <a:r>
              <a:rPr lang="en-US" dirty="0"/>
              <a:t>Little to no enrichment for MADS box genes in </a:t>
            </a:r>
            <a:r>
              <a:rPr lang="en-US" dirty="0" err="1"/>
              <a:t>CrLFY</a:t>
            </a:r>
            <a:r>
              <a:rPr lang="en-US" dirty="0"/>
              <a:t> modules</a:t>
            </a:r>
          </a:p>
        </p:txBody>
      </p:sp>
    </p:spTree>
    <p:extLst>
      <p:ext uri="{BB962C8B-B14F-4D97-AF65-F5344CB8AC3E}">
        <p14:creationId xmlns:p14="http://schemas.microsoft.com/office/powerpoint/2010/main" val="27538184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A7AA-56EE-ED14-BDB8-682BD4DB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4B7F-443A-8453-D4C2-851D7305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for Andy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328F5-4B4F-FB89-C6B1-BCC8BC8B2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What I have done</a:t>
            </a:r>
          </a:p>
          <a:p>
            <a:pPr lvl="1"/>
            <a:r>
              <a:rPr lang="en-US" dirty="0"/>
              <a:t>WGCNA networks on NCBI + Hannah samples, separately for sporophyte and gametophyte</a:t>
            </a:r>
          </a:p>
          <a:p>
            <a:pPr lvl="1"/>
            <a:r>
              <a:rPr lang="en-US" dirty="0"/>
              <a:t>TGCN networks </a:t>
            </a:r>
          </a:p>
          <a:p>
            <a:pPr lvl="1"/>
            <a:r>
              <a:rPr lang="en-US" dirty="0"/>
              <a:t>Mutual rank networks</a:t>
            </a:r>
          </a:p>
          <a:p>
            <a:pPr lvl="1"/>
            <a:r>
              <a:rPr lang="en-US" dirty="0"/>
              <a:t>Generally, </a:t>
            </a:r>
            <a:r>
              <a:rPr lang="en-US" dirty="0" err="1"/>
              <a:t>CrLFYs</a:t>
            </a:r>
            <a:r>
              <a:rPr lang="en-US" dirty="0"/>
              <a:t> are in very large modules</a:t>
            </a:r>
          </a:p>
          <a:p>
            <a:pPr lvl="1"/>
            <a:r>
              <a:rPr lang="en-US" dirty="0"/>
              <a:t>Little to no enrichment for MADS box genes in </a:t>
            </a:r>
            <a:r>
              <a:rPr lang="en-US" dirty="0" err="1"/>
              <a:t>CrLFY</a:t>
            </a:r>
            <a:r>
              <a:rPr lang="en-US" dirty="0"/>
              <a:t> modules</a:t>
            </a:r>
          </a:p>
          <a:p>
            <a:pPr lvl="1"/>
            <a:r>
              <a:rPr lang="en-US" dirty="0"/>
              <a:t>Motif analysis (some enrichment for LFY motif in some networks)</a:t>
            </a:r>
          </a:p>
          <a:p>
            <a:pPr lvl="1"/>
            <a:r>
              <a:rPr lang="en-US" dirty="0"/>
              <a:t>GO enrichment</a:t>
            </a:r>
          </a:p>
          <a:p>
            <a:pPr lvl="1"/>
            <a:r>
              <a:rPr lang="en-US" dirty="0"/>
              <a:t>GSEA for </a:t>
            </a:r>
            <a:r>
              <a:rPr lang="en-US" dirty="0" err="1"/>
              <a:t>A.t.</a:t>
            </a:r>
            <a:r>
              <a:rPr lang="en-US" dirty="0"/>
              <a:t> reproductive categories</a:t>
            </a:r>
          </a:p>
          <a:p>
            <a:r>
              <a:rPr lang="en-US" dirty="0"/>
              <a:t>Probably the most interesting result is the intersection between the CrLFY1 MR network and the male vs hermaphrodite DEG (you have seen this)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4053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CB3D-150F-498C-390A-70051007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Andy’s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5549B-ADDC-B132-AAA2-F4D1A0EA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Andy has</a:t>
            </a:r>
          </a:p>
          <a:p>
            <a:pPr lvl="1"/>
            <a:r>
              <a:rPr lang="en-US" dirty="0"/>
              <a:t>Updated GO and other functional annotations</a:t>
            </a:r>
          </a:p>
          <a:p>
            <a:pPr lvl="2"/>
            <a:r>
              <a:rPr lang="en-US" dirty="0"/>
              <a:t>Although only minor difference</a:t>
            </a:r>
          </a:p>
          <a:p>
            <a:pPr lvl="1"/>
            <a:r>
              <a:rPr lang="en-US" dirty="0"/>
              <a:t>Categories of Arabidopsis genes based on expression in reproductive tissues</a:t>
            </a:r>
          </a:p>
          <a:p>
            <a:pPr lvl="1"/>
            <a:r>
              <a:rPr lang="en-US" dirty="0"/>
              <a:t>Ortholog clusters Arabidopsis </a:t>
            </a:r>
            <a:r>
              <a:rPr lang="en-US" dirty="0">
                <a:sym typeface="Wingdings" pitchFamily="2" charset="2"/>
              </a:rPr>
              <a:t>  C-fern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483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BDE8-A362-F07F-3253-8BF9E455E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that can be done with Andy’s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25A04-EC18-2F64-83A6-4BEBAFCF6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Use new GO categories and annotations for male vs hermaphrodite DEG. (not done)</a:t>
            </a:r>
          </a:p>
          <a:p>
            <a:r>
              <a:rPr lang="en-US" dirty="0"/>
              <a:t>Use new GO categories for GO enrichment in WGCNA modules (not done)</a:t>
            </a:r>
          </a:p>
          <a:p>
            <a:r>
              <a:rPr lang="en-US" dirty="0"/>
              <a:t>Look for enrichment of reproductive gene categories in WGCNA modules (done)</a:t>
            </a:r>
          </a:p>
          <a:p>
            <a:r>
              <a:rPr lang="en-US" dirty="0"/>
              <a:t>Look for enrichment of reproductive gene categories in male vs hermaphrodite DEG (done)</a:t>
            </a:r>
          </a:p>
          <a:p>
            <a:r>
              <a:rPr lang="en-US" dirty="0"/>
              <a:t>Look for enrichment of reproductive gene categories in LFY MR networks (GSEA analysis done…nothing significant)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69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5870-2C02-703B-EA14-322A7C1A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2313194"/>
            <a:ext cx="35747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WGCNA modules (gametophyte)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F3AAB6-DDA4-97FF-24B6-20DE4F4279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A594E-776A-DCC8-E4A3-4C67BE39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251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6A6F-6287-142B-A181-466ACF4B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EEAD-3ED9-55D5-4D91-E9F570DA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2313194"/>
            <a:ext cx="35747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WGCNA modules (sporophyte)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7D95D89-F4D1-98EC-16B0-5FFE2A8F40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A6654-B24E-0FB6-B185-669EC86B3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078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167D-EFBB-D239-E5E6-EA17A423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4922A-FE7B-FB61-65CD-C0602F9D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556592"/>
            <a:ext cx="11208026" cy="834886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male vs hermaphrodite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DA33FFF-3D5A-A25A-6583-49B52E0145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15CD49-296B-1737-CAA5-B88FD1F0D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81" y="2305878"/>
            <a:ext cx="11425037" cy="264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212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61C986-23B7-8487-A306-C1BA92451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827" y="681035"/>
            <a:ext cx="5157173" cy="31813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228C63-BD6B-09FF-E50B-A3AFEAC2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145"/>
            <a:ext cx="10515600" cy="88178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Male/Hermaphrodite LFY1 cluster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7959D-8733-A2FF-768E-524613E6D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44" y="3862409"/>
            <a:ext cx="11303112" cy="303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77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10227</TotalTime>
  <Words>2771</Words>
  <Application>Microsoft Macintosh PowerPoint</Application>
  <PresentationFormat>Widescreen</PresentationFormat>
  <Paragraphs>869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4" baseType="lpstr">
      <vt:lpstr>Aptos</vt:lpstr>
      <vt:lpstr>Aptos Display</vt:lpstr>
      <vt:lpstr>Aptos Narrow</vt:lpstr>
      <vt:lpstr>Arial</vt:lpstr>
      <vt:lpstr>Wingdings</vt:lpstr>
      <vt:lpstr>Office Theme</vt:lpstr>
      <vt:lpstr>Ceratopteris  LFY RNAseq Update</vt:lpstr>
      <vt:lpstr>Is the annotation for LFY1 OK? Yes</vt:lpstr>
      <vt:lpstr>Is the annotation for LFY2 OK? Yes</vt:lpstr>
      <vt:lpstr>Was I counting reads correctly? NO</vt:lpstr>
      <vt:lpstr>LFY1: old on left, new on right.  Pattern is similar but counts are more reasonable.</vt:lpstr>
      <vt:lpstr>LFY2: old on left, new on right.  Pattern is similar but counts are more reasonable.</vt:lpstr>
      <vt:lpstr>LFY1 vs LFY2</vt:lpstr>
      <vt:lpstr>Network attempt 1: WGCNA, all samples</vt:lpstr>
      <vt:lpstr>Network attempt 1: WGCNA, all samples</vt:lpstr>
      <vt:lpstr>Network attempt 1: WGCNA, sporophyte</vt:lpstr>
      <vt:lpstr>Network attempt 1: WGCNA, sporophyte</vt:lpstr>
      <vt:lpstr>Network attempt 1: WGCNA, gametophyte</vt:lpstr>
      <vt:lpstr>Network attempt 1: WGCNA, gametophyte</vt:lpstr>
      <vt:lpstr>Next Steps</vt:lpstr>
      <vt:lpstr>Update March 13, 2025</vt:lpstr>
      <vt:lpstr>Overview of new progress</vt:lpstr>
      <vt:lpstr>TOP3 GO Enrichment: LFY1</vt:lpstr>
      <vt:lpstr>Top3 GO Enrichment: LFY2</vt:lpstr>
      <vt:lpstr>What modules are the MADS box genes in?</vt:lpstr>
      <vt:lpstr>TGCN network</vt:lpstr>
      <vt:lpstr>TGCN LASSO Diagnostics LFY1</vt:lpstr>
      <vt:lpstr>TGCN LASSO Diagnostics LFY2</vt:lpstr>
      <vt:lpstr>TGCNc5 LFY 1 subnetwork correlation with LFY1</vt:lpstr>
      <vt:lpstr>TGCNc5 LFY 1 heatmap</vt:lpstr>
      <vt:lpstr>TGCNc5 LFY 1 GO terms (should redo on whole list)</vt:lpstr>
      <vt:lpstr>TGCNc3 LFY2 subnetwork correlation with LFY2</vt:lpstr>
      <vt:lpstr>TGCNc3 LFY2 heatmap</vt:lpstr>
      <vt:lpstr>TGCNc3 LFY2 GO terms (should redo on whole list)</vt:lpstr>
      <vt:lpstr>TGCNc3 LFY2 GO terms (should redo on whole list)</vt:lpstr>
      <vt:lpstr>MR</vt:lpstr>
      <vt:lpstr>Next Steps</vt:lpstr>
      <vt:lpstr>Update April 21</vt:lpstr>
      <vt:lpstr>Overview</vt:lpstr>
      <vt:lpstr>Gametophyte MDS</vt:lpstr>
      <vt:lpstr>Gametophyte LFY expression</vt:lpstr>
      <vt:lpstr>Sporophyte MDS</vt:lpstr>
      <vt:lpstr>Sporophyte LFY expression</vt:lpstr>
      <vt:lpstr>WGCNA LFY Module Size (more samples mostly did not help)</vt:lpstr>
      <vt:lpstr>TGCN LFY1 gametophyte maybe looks better</vt:lpstr>
      <vt:lpstr>TGCN LFY1 sporophyte…</vt:lpstr>
      <vt:lpstr>TGCN LFY2 gametophyte maybe looks better</vt:lpstr>
      <vt:lpstr>TGCN LFY2 sporophyte maybe looks better</vt:lpstr>
      <vt:lpstr>Update May 5, 2025</vt:lpstr>
      <vt:lpstr>MADS box enrichment</vt:lpstr>
      <vt:lpstr>LFY binding site enrichment</vt:lpstr>
      <vt:lpstr>LFY binding site enrichment</vt:lpstr>
      <vt:lpstr>Single cell / nuclei RNAseq </vt:lpstr>
      <vt:lpstr>Update June 10, 2025</vt:lpstr>
      <vt:lpstr>“How come Marchant reports so many more expressed genes?”</vt:lpstr>
      <vt:lpstr>First draft of methods for males vs hermaphrodites done</vt:lpstr>
      <vt:lpstr>Redid gametophyte networks without 4.5 DAG samples</vt:lpstr>
      <vt:lpstr>LFY1 vs male/hermaphrodite DEG</vt:lpstr>
      <vt:lpstr>LFY1 vs male/hermaphrodite DEG</vt:lpstr>
      <vt:lpstr>LFY1 vs male/hermaphrodite DEG</vt:lpstr>
      <vt:lpstr>LFY2 vs male/hermaphrodite DEG</vt:lpstr>
      <vt:lpstr>LFY2 vs male/hermaphrodite DEG</vt:lpstr>
      <vt:lpstr>LFY2 vs male/hermaphrodite DEG</vt:lpstr>
      <vt:lpstr>Update June 20, 2025</vt:lpstr>
      <vt:lpstr>The relationship between male/hermaphrodite DEG genes and the LFY1 network persists when I build the network without the male/hermaphrodite samples</vt:lpstr>
      <vt:lpstr>Trying to ID genes in the cluster</vt:lpstr>
      <vt:lpstr>Trying to ID genes in the cluster</vt:lpstr>
      <vt:lpstr>Trying to ID genes in the cluster</vt:lpstr>
      <vt:lpstr>Trying to ID genes in the cluster</vt:lpstr>
      <vt:lpstr>There are 1180 genes in the cluster</vt:lpstr>
      <vt:lpstr>GO enrichment</vt:lpstr>
      <vt:lpstr>Next Steps</vt:lpstr>
      <vt:lpstr>Update July 03, 2025</vt:lpstr>
      <vt:lpstr>Reviewed 2015 Arabidopsis Analysis</vt:lpstr>
      <vt:lpstr>Update Dec 02, 2025</vt:lpstr>
      <vt:lpstr>Background for Andy</vt:lpstr>
      <vt:lpstr>Background for Andy</vt:lpstr>
      <vt:lpstr>Background for Andy</vt:lpstr>
      <vt:lpstr>Working with Andy’s Annotations</vt:lpstr>
      <vt:lpstr>Things that can be done with Andy’s data</vt:lpstr>
      <vt:lpstr>Enrichment of reproductive gene categories in WGCNA modules (gametophyte) </vt:lpstr>
      <vt:lpstr>Enrichment of reproductive gene categories in WGCNA modules (sporophyte) </vt:lpstr>
      <vt:lpstr>Enrichment of reproductive gene categories in male vs hermaphrodite</vt:lpstr>
      <vt:lpstr>Enrichment of reproductive gene categories in Male/Hermaphrodite LFY1 cluster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Julin Nassir Maloof</dc:creator>
  <cp:lastModifiedBy>Julin Nassir Maloof</cp:lastModifiedBy>
  <cp:revision>25</cp:revision>
  <dcterms:created xsi:type="dcterms:W3CDTF">2025-02-17T00:25:01Z</dcterms:created>
  <dcterms:modified xsi:type="dcterms:W3CDTF">2026-01-05T22:41:34Z</dcterms:modified>
</cp:coreProperties>
</file>