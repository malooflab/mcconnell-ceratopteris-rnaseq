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7" r:id="rId5"/>
    <p:sldId id="268" r:id="rId6"/>
    <p:sldId id="269" r:id="rId7"/>
    <p:sldId id="271" r:id="rId8"/>
    <p:sldId id="260" r:id="rId9"/>
    <p:sldId id="262" r:id="rId10"/>
    <p:sldId id="263" r:id="rId11"/>
    <p:sldId id="264" r:id="rId12"/>
    <p:sldId id="265" r:id="rId13"/>
    <p:sldId id="266" r:id="rId14"/>
    <p:sldId id="270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6" r:id="rId25"/>
    <p:sldId id="283" r:id="rId26"/>
    <p:sldId id="284" r:id="rId27"/>
    <p:sldId id="287" r:id="rId28"/>
    <p:sldId id="285" r:id="rId29"/>
    <p:sldId id="288" r:id="rId30"/>
    <p:sldId id="282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1" r:id="rId54"/>
    <p:sldId id="312" r:id="rId55"/>
    <p:sldId id="313" r:id="rId56"/>
    <p:sldId id="314" r:id="rId57"/>
    <p:sldId id="315" r:id="rId58"/>
    <p:sldId id="316" r:id="rId59"/>
    <p:sldId id="317" r:id="rId60"/>
    <p:sldId id="318" r:id="rId61"/>
    <p:sldId id="319" r:id="rId62"/>
    <p:sldId id="321" r:id="rId63"/>
    <p:sldId id="322" r:id="rId64"/>
    <p:sldId id="324" r:id="rId65"/>
    <p:sldId id="320" r:id="rId66"/>
    <p:sldId id="323" r:id="rId67"/>
    <p:sldId id="325" r:id="rId68"/>
    <p:sldId id="326" r:id="rId69"/>
    <p:sldId id="327" r:id="rId70"/>
    <p:sldId id="334" r:id="rId71"/>
    <p:sldId id="335" r:id="rId72"/>
    <p:sldId id="336" r:id="rId73"/>
    <p:sldId id="328" r:id="rId74"/>
    <p:sldId id="329" r:id="rId75"/>
    <p:sldId id="330" r:id="rId76"/>
    <p:sldId id="338" r:id="rId77"/>
    <p:sldId id="331" r:id="rId78"/>
    <p:sldId id="337" r:id="rId79"/>
    <p:sldId id="332" r:id="rId80"/>
    <p:sldId id="339" r:id="rId81"/>
    <p:sldId id="333" r:id="rId82"/>
    <p:sldId id="340" r:id="rId83"/>
    <p:sldId id="341" r:id="rId84"/>
    <p:sldId id="342" r:id="rId85"/>
    <p:sldId id="343" r:id="rId86"/>
    <p:sldId id="344" r:id="rId87"/>
    <p:sldId id="364" r:id="rId88"/>
    <p:sldId id="351" r:id="rId89"/>
    <p:sldId id="352" r:id="rId90"/>
    <p:sldId id="353" r:id="rId91"/>
    <p:sldId id="354" r:id="rId92"/>
    <p:sldId id="365" r:id="rId93"/>
    <p:sldId id="367" r:id="rId94"/>
    <p:sldId id="366" r:id="rId95"/>
    <p:sldId id="368" r:id="rId96"/>
    <p:sldId id="361" r:id="rId97"/>
    <p:sldId id="373" r:id="rId98"/>
    <p:sldId id="362" r:id="rId99"/>
    <p:sldId id="363" r:id="rId100"/>
    <p:sldId id="371" r:id="rId101"/>
    <p:sldId id="372" r:id="rId102"/>
    <p:sldId id="370" r:id="rId103"/>
    <p:sldId id="374" r:id="rId10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857"/>
    <p:restoredTop sz="94797"/>
  </p:normalViewPr>
  <p:slideViewPr>
    <p:cSldViewPr snapToGrid="0">
      <p:cViewPr varScale="1">
        <p:scale>
          <a:sx n="108" d="100"/>
          <a:sy n="108" d="100"/>
        </p:scale>
        <p:origin x="208" y="1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theme" Target="theme/theme1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79F64-85EE-C8B6-F2DE-A0386B4329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EB18E9-3228-D477-9971-8DC84B759F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6CD8F-734B-5BC6-5907-74652A1AD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DF8B4-566C-8B4A-A9A4-CF91A384B245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E531DE-083D-C64B-6B3E-D4ADD4BD4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2E6F0-E24C-59EC-1867-E0FDE779C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1BFA9-B704-3A46-97D2-057889DF0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23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157A7-AD20-4B5C-111D-7013CED80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75572-8451-80E6-85A2-65BDC7CD1B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49ED6-5FF9-412E-0667-838B6359A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DF8B4-566C-8B4A-A9A4-CF91A384B245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0E04A-384C-5637-0F45-961DA9EC5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665A5-2795-A5E3-EC30-0303EE59E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1BFA9-B704-3A46-97D2-057889DF0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240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76EE7-740B-6155-6345-10357B190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27E4F5-4071-B3EB-468F-E355BF58B7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14BB26-0567-C940-E915-F871810B5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DF8B4-566C-8B4A-A9A4-CF91A384B245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A2925A-780F-6DD6-844D-BABF16DFE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0891B-443D-9A86-C0A2-7A73EBCFD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1BFA9-B704-3A46-97D2-057889DF0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607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6ABBB-3FB4-E72D-A150-FA5D431FF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06956-B156-F990-820A-BC670B4672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A187E8-A174-C09D-C5A2-43702F670A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B0AB2B-879C-3128-9FD0-73D38386C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DF8B4-566C-8B4A-A9A4-CF91A384B245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286254-44D2-47E8-B20E-842B7228E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4269C9-A600-4E33-0486-AD52BC889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1BFA9-B704-3A46-97D2-057889DF0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787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64CE0-6A77-C0E9-3436-DAB7203ED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44505-0C78-435F-6D8F-315CA3B3D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3AEE32-C22C-9EB7-BAFA-1E9ECEB7CE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FA0560-25CB-E9F6-C519-B3B391758A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1FB5EF-CCEA-810A-416B-809015B17F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4B1C5E-D97D-75A0-D20E-92C82ACD1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DF8B4-566C-8B4A-A9A4-CF91A384B245}" type="datetimeFigureOut">
              <a:rPr lang="en-US" smtClean="0"/>
              <a:t>1/29/26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0D3978-9921-50AA-F31D-EB1F244A3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8BF06A-FB6F-F02B-1FFD-774F10441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1BFA9-B704-3A46-97D2-057889DF0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809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E3B0D-5530-0EB2-159D-598E8BA64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9E5101-774A-44EC-2E64-0A1041071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DF8B4-566C-8B4A-A9A4-CF91A384B245}" type="datetimeFigureOut">
              <a:rPr lang="en-US" smtClean="0"/>
              <a:t>1/29/26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1635CA-1C3D-0818-D21C-A39E299F0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2E68BC-A7AE-49DF-0057-2F4F72F89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1BFA9-B704-3A46-97D2-057889DF0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750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F741FA-E480-FD09-7CC4-15583D434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DF8B4-566C-8B4A-A9A4-CF91A384B245}" type="datetimeFigureOut">
              <a:rPr lang="en-US" smtClean="0"/>
              <a:t>1/29/26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C64A48-6CD9-4CB7-A3BB-FB7251F87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CF7749-69A8-6B26-A001-F44B104BD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1BFA9-B704-3A46-97D2-057889DF0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253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28694-1090-7435-CDC4-892DC8D46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A7508-5E85-480A-457C-A9053FBB0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538FC8-8620-49AF-A87B-017E9E2765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2068D1-8B80-8D14-9168-B8AAF05F8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DF8B4-566C-8B4A-A9A4-CF91A384B245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322CC4-AAC1-184C-54DA-3BDFD2671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149C90-4B9A-4D33-F4D0-C9BE2E4A2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1BFA9-B704-3A46-97D2-057889DF0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46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1E66C-C92B-F42C-75A8-207B0B984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60551D-B9F6-81A4-C75A-975198549A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ADB9AE-780A-591E-AB43-71CBAF0BDE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1D06AE-606A-0E88-DC92-08426AF56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DF8B4-566C-8B4A-A9A4-CF91A384B245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B7FEB8-BCA2-2AB0-D641-4328F1CEF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143F6C-FE74-EB58-E7A6-6463FB69A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1BFA9-B704-3A46-97D2-057889DF0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394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8BCB9-082F-2538-4368-63A4E01A7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77FB2D-066A-814D-ACCA-CC7EF8A364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FB6F0-4258-7501-3B7F-844A68237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DF8B4-566C-8B4A-A9A4-CF91A384B245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06523-6FD9-5D3B-B0A8-F353B293C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4171E-D11C-F84C-BF1D-2BC96BC52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1BFA9-B704-3A46-97D2-057889DF0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521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26E557-99E6-3D20-81D1-FA4BBE9D9D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0EA024-208B-0CDA-F766-CC6DF2C843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94F65-F3B9-0635-1A6E-3A8DD1A3E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DF8B4-566C-8B4A-A9A4-CF91A384B245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BD0CF6-B364-8334-5030-04C310C11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6C315-ADCF-4AF1-E3C2-64B29C557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1BFA9-B704-3A46-97D2-057889DF0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069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3073ED-B347-1DB4-C79C-DA3AA45D2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53CC2A-69B9-B38C-8EBF-8E3BC09D88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B6EEBF-ED58-85DE-1523-41E742B4B9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DDF8B4-566C-8B4A-A9A4-CF91A384B245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F3CC99-2ECD-8577-F50F-C3DF3E2667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42B787-F7F1-77D4-A815-D1EEA1FD7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11BFA9-B704-3A46-97D2-057889DF0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119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C604C-2B1B-D485-1E6B-C5890E1957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Ceratopteris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LFY </a:t>
            </a:r>
            <a:r>
              <a:rPr lang="en-US" dirty="0" err="1"/>
              <a:t>RNAseq</a:t>
            </a:r>
            <a:br>
              <a:rPr lang="en-US" dirty="0"/>
            </a:br>
            <a:r>
              <a:rPr lang="en-US" dirty="0"/>
              <a:t>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DA1921-808A-3522-C7BA-27CE93AE7B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Feb 18, 2025</a:t>
            </a:r>
          </a:p>
        </p:txBody>
      </p:sp>
    </p:spTree>
    <p:extLst>
      <p:ext uri="{BB962C8B-B14F-4D97-AF65-F5344CB8AC3E}">
        <p14:creationId xmlns:p14="http://schemas.microsoft.com/office/powerpoint/2010/main" val="3579570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B9C9B-B94B-D35A-1FF8-49B23F999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the annotation for LFY1 OK? Yes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6268ADC-D871-9E64-EFCE-990F967B66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717" y="1506262"/>
            <a:ext cx="11944834" cy="4986613"/>
          </a:xfrm>
        </p:spPr>
      </p:pic>
    </p:spTree>
    <p:extLst>
      <p:ext uri="{BB962C8B-B14F-4D97-AF65-F5344CB8AC3E}">
        <p14:creationId xmlns:p14="http://schemas.microsoft.com/office/powerpoint/2010/main" val="724140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12477-E905-354E-6CE9-D14E126FA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E269E-70BF-692A-064F-7207480CD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the annotation for LFY2 OK? Yes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78E6647-DDBE-26B0-3292-6673CC4701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6786" y="1336360"/>
            <a:ext cx="8696392" cy="5521640"/>
          </a:xfrm>
        </p:spPr>
      </p:pic>
    </p:spTree>
    <p:extLst>
      <p:ext uri="{BB962C8B-B14F-4D97-AF65-F5344CB8AC3E}">
        <p14:creationId xmlns:p14="http://schemas.microsoft.com/office/powerpoint/2010/main" val="3451928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57314-2286-5433-2B1C-CBD93B35F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3227"/>
            <a:ext cx="10515600" cy="676866"/>
          </a:xfrm>
        </p:spPr>
        <p:txBody>
          <a:bodyPr>
            <a:normAutofit fontScale="90000"/>
          </a:bodyPr>
          <a:lstStyle/>
          <a:p>
            <a:r>
              <a:rPr lang="en-US" dirty="0"/>
              <a:t>Was I counting reads correctly? NO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05BB2-1040-1121-02B8-44DC84496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7684"/>
            <a:ext cx="10515600" cy="5039279"/>
          </a:xfrm>
        </p:spPr>
        <p:txBody>
          <a:bodyPr/>
          <a:lstStyle/>
          <a:p>
            <a:r>
              <a:rPr lang="en-US" dirty="0"/>
              <a:t>The annotation file has multiple isoforms and did not account for the correctly in my original analysis.  Now fixed.</a:t>
            </a:r>
          </a:p>
        </p:txBody>
      </p:sp>
    </p:spTree>
    <p:extLst>
      <p:ext uri="{BB962C8B-B14F-4D97-AF65-F5344CB8AC3E}">
        <p14:creationId xmlns:p14="http://schemas.microsoft.com/office/powerpoint/2010/main" val="1843026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887E0-34FC-04B2-40D9-6DAC836FC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912"/>
            <a:ext cx="10515600" cy="1303758"/>
          </a:xfrm>
        </p:spPr>
        <p:txBody>
          <a:bodyPr>
            <a:normAutofit/>
          </a:bodyPr>
          <a:lstStyle/>
          <a:p>
            <a:r>
              <a:rPr lang="en-US" dirty="0"/>
              <a:t>LFY1: old on left, new on right.  Pattern is similar but counts are more reasonable.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5E691C-9DAA-E146-8FB3-807D60CAC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48929"/>
            <a:ext cx="6600393" cy="40716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05AEEEF-F60D-4861-C409-CC3AD01F2B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1606" y="2248929"/>
            <a:ext cx="6600393" cy="4071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691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37F76-0459-3073-9A5A-FA8993DF0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E5FEF-F9AE-E526-97A5-CA19D14CE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912"/>
            <a:ext cx="10515600" cy="1303758"/>
          </a:xfrm>
        </p:spPr>
        <p:txBody>
          <a:bodyPr>
            <a:normAutofit/>
          </a:bodyPr>
          <a:lstStyle/>
          <a:p>
            <a:r>
              <a:rPr lang="en-US" dirty="0"/>
              <a:t>LFY2: old on left, new on right.  Pattern is similar but counts are more reasonable.</a:t>
            </a:r>
          </a:p>
        </p:txBody>
      </p:sp>
      <p:pic>
        <p:nvPicPr>
          <p:cNvPr id="4" name="Picture 3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89F32E91-8A19-AB92-94DA-13E2AA9AB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98473"/>
            <a:ext cx="6314303" cy="38951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554285F-66C1-DC9D-B2BF-28FE133DB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2924" y="2425612"/>
            <a:ext cx="6879075" cy="4243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826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E918B-5122-5729-4754-C7E76D44E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1D5FE8-8E2C-1867-1704-22D87B25D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48929"/>
            <a:ext cx="6600393" cy="40716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1947447-4907-B1A6-1EE9-CF4DBF595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912"/>
            <a:ext cx="10515600" cy="1303758"/>
          </a:xfrm>
        </p:spPr>
        <p:txBody>
          <a:bodyPr>
            <a:normAutofit/>
          </a:bodyPr>
          <a:lstStyle/>
          <a:p>
            <a:r>
              <a:rPr lang="en-US"/>
              <a:t>LFY1 vs LFY2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A8E184-C1D0-2000-3E5B-0FF8BF0E9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2925" y="2248929"/>
            <a:ext cx="6879075" cy="4243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26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E212C713-499E-279B-89C7-228E33C98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630194"/>
            <a:ext cx="10244812" cy="61468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43EB551-4C09-EB19-256D-64498FD19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918"/>
            <a:ext cx="10515600" cy="648129"/>
          </a:xfrm>
        </p:spPr>
        <p:txBody>
          <a:bodyPr>
            <a:normAutofit fontScale="90000"/>
          </a:bodyPr>
          <a:lstStyle/>
          <a:p>
            <a:r>
              <a:rPr lang="en-US" dirty="0"/>
              <a:t>Network attempt 1: WGCNA, all samples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8FDFE2E4-56F3-C410-2A64-C97E5CD2AB2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18A28F83-0FB9-D7DA-4C5D-351ED8BEA8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2053BFF5-2516-2D57-EE15-7EDB02A7E19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14800" y="1447800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8">
            <a:extLst>
              <a:ext uri="{FF2B5EF4-FFF2-40B4-BE49-F238E27FC236}">
                <a16:creationId xmlns:a16="http://schemas.microsoft.com/office/drawing/2014/main" id="{71BAEFED-BEA3-261D-D51F-0898E0D4B8B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1213022"/>
            <a:ext cx="2673178" cy="2673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0CE4EB-E303-84CB-41B6-D9D70154BB68}"/>
              </a:ext>
            </a:extLst>
          </p:cNvPr>
          <p:cNvSpPr txBox="1"/>
          <p:nvPr/>
        </p:nvSpPr>
        <p:spPr>
          <a:xfrm>
            <a:off x="10132541" y="506627"/>
            <a:ext cx="191529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Each “color” is a module</a:t>
            </a:r>
          </a:p>
          <a:p>
            <a:endParaRPr lang="en-US" dirty="0"/>
          </a:p>
          <a:p>
            <a:r>
              <a:rPr lang="en-US" dirty="0"/>
              <a:t>Y-axis is first PC of expression of that module</a:t>
            </a:r>
          </a:p>
          <a:p>
            <a:endParaRPr lang="en-US" dirty="0"/>
          </a:p>
          <a:p>
            <a:r>
              <a:rPr lang="en-US" dirty="0"/>
              <a:t>LFY1 is in MIDNIGHT BLUE</a:t>
            </a:r>
          </a:p>
          <a:p>
            <a:endParaRPr lang="en-US" dirty="0"/>
          </a:p>
          <a:p>
            <a:r>
              <a:rPr lang="en-US" dirty="0"/>
              <a:t>LFY2 is in MAGENTA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0252F5A-AE23-3EA1-5D06-C6495EA37FD7}"/>
              </a:ext>
            </a:extLst>
          </p:cNvPr>
          <p:cNvSpPr/>
          <p:nvPr/>
        </p:nvSpPr>
        <p:spPr>
          <a:xfrm>
            <a:off x="733647" y="3581400"/>
            <a:ext cx="1658679" cy="97996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EF14FE3-BD86-914F-4ABA-A1A4D82D2C38}"/>
              </a:ext>
            </a:extLst>
          </p:cNvPr>
          <p:cNvSpPr/>
          <p:nvPr/>
        </p:nvSpPr>
        <p:spPr>
          <a:xfrm>
            <a:off x="2388300" y="3581400"/>
            <a:ext cx="1658679" cy="979967"/>
          </a:xfrm>
          <a:prstGeom prst="round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0385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713A3-E9E4-2C4C-EF9C-10D4DA407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0AC0B-A467-7F68-0E9B-A4E38E66E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918"/>
            <a:ext cx="10515600" cy="648129"/>
          </a:xfrm>
        </p:spPr>
        <p:txBody>
          <a:bodyPr>
            <a:normAutofit fontScale="90000"/>
          </a:bodyPr>
          <a:lstStyle/>
          <a:p>
            <a:r>
              <a:rPr lang="en-US" dirty="0"/>
              <a:t>Network attempt 1: WGCNA, all samples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3806FFAF-8FDE-C314-07AC-8A7FDAA4BD1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50D43912-85BD-DB8A-A51B-4193CC0A39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43311FD8-3808-1FA8-3340-05ADC7804AD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14800" y="1447800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8">
            <a:extLst>
              <a:ext uri="{FF2B5EF4-FFF2-40B4-BE49-F238E27FC236}">
                <a16:creationId xmlns:a16="http://schemas.microsoft.com/office/drawing/2014/main" id="{8F5173CE-E204-DF58-8907-A674F02E45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1213022"/>
            <a:ext cx="2673178" cy="2673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53349E-75AE-4279-DB1A-98153F640314}"/>
              </a:ext>
            </a:extLst>
          </p:cNvPr>
          <p:cNvSpPr txBox="1"/>
          <p:nvPr/>
        </p:nvSpPr>
        <p:spPr>
          <a:xfrm>
            <a:off x="10132541" y="506627"/>
            <a:ext cx="191529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Each “color” is a module</a:t>
            </a:r>
          </a:p>
          <a:p>
            <a:endParaRPr lang="en-US" dirty="0"/>
          </a:p>
          <a:p>
            <a:r>
              <a:rPr lang="en-US" dirty="0"/>
              <a:t>heatmap is first PC of expression of that module</a:t>
            </a:r>
          </a:p>
          <a:p>
            <a:endParaRPr lang="en-US" dirty="0"/>
          </a:p>
          <a:p>
            <a:r>
              <a:rPr lang="en-US" dirty="0"/>
              <a:t>LFY1 is in MIDNIGHT BLUE</a:t>
            </a:r>
          </a:p>
          <a:p>
            <a:endParaRPr lang="en-US" dirty="0"/>
          </a:p>
          <a:p>
            <a:r>
              <a:rPr lang="en-US" dirty="0"/>
              <a:t>LFY2 is in MAGENTA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838647-5E98-B5C9-FD2B-CF8610BAF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583" y="729046"/>
            <a:ext cx="9759958" cy="6039311"/>
          </a:xfrm>
          <a:prstGeom prst="rect">
            <a:avLst/>
          </a:prstGeom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904447F-D171-7807-022C-D50534E89978}"/>
              </a:ext>
            </a:extLst>
          </p:cNvPr>
          <p:cNvSpPr/>
          <p:nvPr/>
        </p:nvSpPr>
        <p:spPr>
          <a:xfrm>
            <a:off x="3810000" y="2307265"/>
            <a:ext cx="218303" cy="446109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397AB53-06D2-B126-8F98-D4A26548BADE}"/>
              </a:ext>
            </a:extLst>
          </p:cNvPr>
          <p:cNvSpPr/>
          <p:nvPr/>
        </p:nvSpPr>
        <p:spPr>
          <a:xfrm>
            <a:off x="6098108" y="2307265"/>
            <a:ext cx="218303" cy="4461092"/>
          </a:xfrm>
          <a:prstGeom prst="round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443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6912B-A684-06AB-36B9-F42137EC9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27296-4E7C-2714-A966-DDBCBA996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918"/>
            <a:ext cx="10515600" cy="648129"/>
          </a:xfrm>
        </p:spPr>
        <p:txBody>
          <a:bodyPr>
            <a:normAutofit fontScale="90000"/>
          </a:bodyPr>
          <a:lstStyle/>
          <a:p>
            <a:r>
              <a:rPr lang="en-US" dirty="0"/>
              <a:t>Network attempt 1: WGCNA, sporophyte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DBAA65A9-1A31-DBC0-BCC4-96B8F6D8CD7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707B7639-70EA-FA50-3762-2A91C060EEA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AE78DDD8-0660-8C6C-0D5E-C7BBCA0FF77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14800" y="1447800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8">
            <a:extLst>
              <a:ext uri="{FF2B5EF4-FFF2-40B4-BE49-F238E27FC236}">
                <a16:creationId xmlns:a16="http://schemas.microsoft.com/office/drawing/2014/main" id="{83636A0B-F713-5020-C036-8993E704BD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1213022"/>
            <a:ext cx="2673178" cy="2673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7F750A-74B0-B889-847F-FD3304E4F975}"/>
              </a:ext>
            </a:extLst>
          </p:cNvPr>
          <p:cNvSpPr txBox="1"/>
          <p:nvPr/>
        </p:nvSpPr>
        <p:spPr>
          <a:xfrm>
            <a:off x="10132541" y="506627"/>
            <a:ext cx="191529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Each “color” is a module</a:t>
            </a:r>
          </a:p>
          <a:p>
            <a:endParaRPr lang="en-US" dirty="0"/>
          </a:p>
          <a:p>
            <a:r>
              <a:rPr lang="en-US" dirty="0"/>
              <a:t>Y-axis is first PC of expression of that module</a:t>
            </a:r>
          </a:p>
          <a:p>
            <a:endParaRPr lang="en-US" dirty="0"/>
          </a:p>
          <a:p>
            <a:r>
              <a:rPr lang="en-US" dirty="0"/>
              <a:t>LFY1 is in BROWN</a:t>
            </a:r>
          </a:p>
          <a:p>
            <a:endParaRPr lang="en-US" dirty="0"/>
          </a:p>
          <a:p>
            <a:r>
              <a:rPr lang="en-US" dirty="0"/>
              <a:t>LFY2 is in BLUE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BCCCA83-095E-5704-FEA3-06E054728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344" y="720811"/>
            <a:ext cx="9874230" cy="5924538"/>
          </a:xfrm>
          <a:prstGeom prst="rect">
            <a:avLst/>
          </a:prstGeom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81D4FC4-62C5-E203-18C9-E87BE6294DFC}"/>
              </a:ext>
            </a:extLst>
          </p:cNvPr>
          <p:cNvSpPr/>
          <p:nvPr/>
        </p:nvSpPr>
        <p:spPr>
          <a:xfrm>
            <a:off x="2456121" y="729048"/>
            <a:ext cx="1733107" cy="81267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B02E1AC-2C6B-BCA4-A261-77091D256E7F}"/>
              </a:ext>
            </a:extLst>
          </p:cNvPr>
          <p:cNvSpPr/>
          <p:nvPr/>
        </p:nvSpPr>
        <p:spPr>
          <a:xfrm>
            <a:off x="4189228" y="715776"/>
            <a:ext cx="1658679" cy="836580"/>
          </a:xfrm>
          <a:prstGeom prst="round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8623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17DC0-03DA-E9E4-EC77-BC3C72A1D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73A95-1E34-3AC5-C98F-09CE2AFE6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918"/>
            <a:ext cx="10515600" cy="648129"/>
          </a:xfrm>
        </p:spPr>
        <p:txBody>
          <a:bodyPr>
            <a:normAutofit fontScale="90000"/>
          </a:bodyPr>
          <a:lstStyle/>
          <a:p>
            <a:r>
              <a:rPr lang="en-US" dirty="0"/>
              <a:t>Network attempt 1: WGCNA, sporophyte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13AC5588-9364-EF23-1F17-6EC4FC9ADD6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ADF5AE60-48ED-BFAB-B1F7-7561EAA98B3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26B03028-483F-D754-EDB3-1F234EB450F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14800" y="1447800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8">
            <a:extLst>
              <a:ext uri="{FF2B5EF4-FFF2-40B4-BE49-F238E27FC236}">
                <a16:creationId xmlns:a16="http://schemas.microsoft.com/office/drawing/2014/main" id="{11E4D984-CB4A-6FE3-4437-E694864E9FB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1213022"/>
            <a:ext cx="2673178" cy="2673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669337-94A7-C26E-1290-A632CE970367}"/>
              </a:ext>
            </a:extLst>
          </p:cNvPr>
          <p:cNvSpPr txBox="1"/>
          <p:nvPr/>
        </p:nvSpPr>
        <p:spPr>
          <a:xfrm>
            <a:off x="10132541" y="506627"/>
            <a:ext cx="191529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Each “color” is a module</a:t>
            </a:r>
          </a:p>
          <a:p>
            <a:endParaRPr lang="en-US" dirty="0"/>
          </a:p>
          <a:p>
            <a:r>
              <a:rPr lang="en-US" dirty="0"/>
              <a:t>heatmap is first PC of expression of that module</a:t>
            </a:r>
          </a:p>
          <a:p>
            <a:endParaRPr lang="en-US" dirty="0"/>
          </a:p>
          <a:p>
            <a:r>
              <a:rPr lang="en-US" dirty="0"/>
              <a:t>LFY1 is in BROWN</a:t>
            </a:r>
          </a:p>
          <a:p>
            <a:endParaRPr lang="en-US" dirty="0"/>
          </a:p>
          <a:p>
            <a:r>
              <a:rPr lang="en-US" dirty="0"/>
              <a:t>LFY2 is in BLUE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A31A106-CC8D-B34B-E4A1-281C72D97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684" y="729047"/>
            <a:ext cx="9578349" cy="5926934"/>
          </a:xfrm>
          <a:prstGeom prst="rect">
            <a:avLst/>
          </a:prstGeom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B472981-EC95-F1D6-405C-A2712D455A05}"/>
              </a:ext>
            </a:extLst>
          </p:cNvPr>
          <p:cNvSpPr/>
          <p:nvPr/>
        </p:nvSpPr>
        <p:spPr>
          <a:xfrm>
            <a:off x="3185391" y="2303585"/>
            <a:ext cx="218303" cy="446109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B8B3D9A-B1C7-B02D-E497-F8FBF089F71F}"/>
              </a:ext>
            </a:extLst>
          </p:cNvPr>
          <p:cNvSpPr/>
          <p:nvPr/>
        </p:nvSpPr>
        <p:spPr>
          <a:xfrm>
            <a:off x="6570636" y="2315990"/>
            <a:ext cx="218303" cy="4461092"/>
          </a:xfrm>
          <a:prstGeom prst="round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543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E7484-C118-B77F-9F25-0CBCDB307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A6897-1FD8-CD66-9938-CE0A046DE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918"/>
            <a:ext cx="10515600" cy="648129"/>
          </a:xfrm>
        </p:spPr>
        <p:txBody>
          <a:bodyPr>
            <a:normAutofit fontScale="90000"/>
          </a:bodyPr>
          <a:lstStyle/>
          <a:p>
            <a:r>
              <a:rPr lang="en-US" dirty="0"/>
              <a:t>Network attempt 1: WGCNA, gametophyte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E0AA1BE6-61EC-1C01-5D81-78B6C7BC679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605C7EE7-7E62-62F8-6D97-5EC31786BD9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2BFE5D49-48EF-1362-1210-CC80C64273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14800" y="1447800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8">
            <a:extLst>
              <a:ext uri="{FF2B5EF4-FFF2-40B4-BE49-F238E27FC236}">
                <a16:creationId xmlns:a16="http://schemas.microsoft.com/office/drawing/2014/main" id="{60D3FA03-F9C4-53A8-FC92-7D5EAA2CFB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1213022"/>
            <a:ext cx="2673178" cy="2673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517800-456D-04D5-33F8-8297903740C8}"/>
              </a:ext>
            </a:extLst>
          </p:cNvPr>
          <p:cNvSpPr txBox="1"/>
          <p:nvPr/>
        </p:nvSpPr>
        <p:spPr>
          <a:xfrm>
            <a:off x="10132541" y="506627"/>
            <a:ext cx="191529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Each “color” is a module</a:t>
            </a:r>
          </a:p>
          <a:p>
            <a:endParaRPr lang="en-US" dirty="0"/>
          </a:p>
          <a:p>
            <a:r>
              <a:rPr lang="en-US" dirty="0"/>
              <a:t>Y-axis is first PC of expression of that module</a:t>
            </a:r>
          </a:p>
          <a:p>
            <a:endParaRPr lang="en-US" dirty="0"/>
          </a:p>
          <a:p>
            <a:r>
              <a:rPr lang="en-US" dirty="0"/>
              <a:t>LFY1 is in TURQUOISE</a:t>
            </a:r>
          </a:p>
          <a:p>
            <a:endParaRPr lang="en-US" dirty="0"/>
          </a:p>
          <a:p>
            <a:r>
              <a:rPr lang="en-US" dirty="0"/>
              <a:t>LFY2 is in BROWN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B351EAF-E49E-6F7B-5811-29CC0B8E8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61" y="729046"/>
            <a:ext cx="9765057" cy="6048035"/>
          </a:xfrm>
          <a:prstGeom prst="rect">
            <a:avLst/>
          </a:prstGeom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07D2C17-A9C9-B010-BE20-B8227C6EE2DD}"/>
              </a:ext>
            </a:extLst>
          </p:cNvPr>
          <p:cNvSpPr/>
          <p:nvPr/>
        </p:nvSpPr>
        <p:spPr>
          <a:xfrm>
            <a:off x="4618817" y="729044"/>
            <a:ext cx="1915297" cy="121671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9BA3490-CFC3-A466-9360-0E22E8E51CAB}"/>
              </a:ext>
            </a:extLst>
          </p:cNvPr>
          <p:cNvSpPr/>
          <p:nvPr/>
        </p:nvSpPr>
        <p:spPr>
          <a:xfrm>
            <a:off x="656417" y="4315761"/>
            <a:ext cx="1915297" cy="1216713"/>
          </a:xfrm>
          <a:prstGeom prst="round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1135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19AA3-7D8F-83EC-A28B-9471F7C7C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A86B9-FB6D-6254-E2FA-0CD06FC68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918"/>
            <a:ext cx="10515600" cy="648129"/>
          </a:xfrm>
        </p:spPr>
        <p:txBody>
          <a:bodyPr>
            <a:normAutofit fontScale="90000"/>
          </a:bodyPr>
          <a:lstStyle/>
          <a:p>
            <a:r>
              <a:rPr lang="en-US" dirty="0"/>
              <a:t>Network attempt 1: WGCNA, gametophyte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3C168545-EDDE-43ED-A065-9EB23EEE724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7FC66EBA-B8B0-46DA-C30B-E82F19FF99F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2CAD6344-E3DA-B0C4-BAC8-6CA8F8BC92E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14800" y="1447800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8">
            <a:extLst>
              <a:ext uri="{FF2B5EF4-FFF2-40B4-BE49-F238E27FC236}">
                <a16:creationId xmlns:a16="http://schemas.microsoft.com/office/drawing/2014/main" id="{0D906F29-63CE-4A22-32F2-16D9799B4B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1213022"/>
            <a:ext cx="2673178" cy="2673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EC8F56-8D77-EEEF-14A9-03DDDBD80B7F}"/>
              </a:ext>
            </a:extLst>
          </p:cNvPr>
          <p:cNvSpPr txBox="1"/>
          <p:nvPr/>
        </p:nvSpPr>
        <p:spPr>
          <a:xfrm>
            <a:off x="10132541" y="506627"/>
            <a:ext cx="191529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Each “color” is a module</a:t>
            </a:r>
          </a:p>
          <a:p>
            <a:endParaRPr lang="en-US" dirty="0"/>
          </a:p>
          <a:p>
            <a:r>
              <a:rPr lang="en-US" dirty="0"/>
              <a:t>LFY1 is in TURQUOISE</a:t>
            </a:r>
          </a:p>
          <a:p>
            <a:endParaRPr lang="en-US" dirty="0"/>
          </a:p>
          <a:p>
            <a:r>
              <a:rPr lang="en-US" dirty="0"/>
              <a:t>LFY2 is in BROWN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2FF9F8B-2529-29D3-9DF9-33ADB5954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61" y="614916"/>
            <a:ext cx="9711245" cy="6009168"/>
          </a:xfrm>
          <a:prstGeom prst="rect">
            <a:avLst/>
          </a:prstGeom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E31ACD0-7143-CFE5-A895-8A075A437C3F}"/>
              </a:ext>
            </a:extLst>
          </p:cNvPr>
          <p:cNvSpPr/>
          <p:nvPr/>
        </p:nvSpPr>
        <p:spPr>
          <a:xfrm>
            <a:off x="6215449" y="2158409"/>
            <a:ext cx="490151" cy="470490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BD1E5FF-0EEC-148D-50D9-98D31951D40D}"/>
              </a:ext>
            </a:extLst>
          </p:cNvPr>
          <p:cNvSpPr/>
          <p:nvPr/>
        </p:nvSpPr>
        <p:spPr>
          <a:xfrm>
            <a:off x="3271476" y="2153093"/>
            <a:ext cx="490151" cy="4704907"/>
          </a:xfrm>
          <a:prstGeom prst="round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6514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EE1B4-8E5E-D62B-7684-76ED53A29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0661"/>
          </a:xfrm>
        </p:spPr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DC10F-99C3-BC9E-BF36-7C8F66676D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4009"/>
            <a:ext cx="10515600" cy="4932954"/>
          </a:xfrm>
        </p:spPr>
        <p:txBody>
          <a:bodyPr/>
          <a:lstStyle/>
          <a:p>
            <a:r>
              <a:rPr lang="en-US" dirty="0"/>
              <a:t>Gene Ontology (GO) categories for each module</a:t>
            </a:r>
          </a:p>
          <a:p>
            <a:r>
              <a:rPr lang="en-US" dirty="0"/>
              <a:t>Enriched promoter motifs for each modules</a:t>
            </a:r>
          </a:p>
          <a:p>
            <a:r>
              <a:rPr lang="en-US" dirty="0"/>
              <a:t>Build a mutual rank (MR) network</a:t>
            </a:r>
          </a:p>
          <a:p>
            <a:pPr lvl="1"/>
            <a:r>
              <a:rPr lang="en-US" dirty="0"/>
              <a:t>Rationale:</a:t>
            </a:r>
          </a:p>
          <a:p>
            <a:pPr lvl="2"/>
            <a:r>
              <a:rPr lang="en-US" dirty="0"/>
              <a:t>Current LFY modules are very large many hundreds to thousands of genes</a:t>
            </a:r>
          </a:p>
          <a:p>
            <a:pPr lvl="2"/>
            <a:r>
              <a:rPr lang="en-US" dirty="0"/>
              <a:t>A MR network will allow me to more easily identify LFYs’ closest connections</a:t>
            </a:r>
          </a:p>
        </p:txBody>
      </p:sp>
    </p:spTree>
    <p:extLst>
      <p:ext uri="{BB962C8B-B14F-4D97-AF65-F5344CB8AC3E}">
        <p14:creationId xmlns:p14="http://schemas.microsoft.com/office/powerpoint/2010/main" val="31763330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58DF8-C233-DD84-D4DA-FEB8F51932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Update March 13, 2025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2A80F9-468F-7B46-D679-0473B32540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6101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AF856-F0C4-2C37-173A-167F57849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new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51358-A285-6678-9770-B46C7EEFE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 enrichment of WGCNA modules</a:t>
            </a:r>
          </a:p>
          <a:p>
            <a:r>
              <a:rPr lang="en-US" dirty="0"/>
              <a:t>Looked for module membership of MADS box genes</a:t>
            </a:r>
          </a:p>
          <a:p>
            <a:r>
              <a:rPr lang="en-US" dirty="0"/>
              <a:t>Tried a new method “Targeted Gene Correlation Network” (TGCN)</a:t>
            </a:r>
          </a:p>
          <a:p>
            <a:r>
              <a:rPr lang="en-US" dirty="0"/>
              <a:t>Built mutual rank (MR) networks</a:t>
            </a:r>
          </a:p>
        </p:txBody>
      </p:sp>
    </p:spTree>
    <p:extLst>
      <p:ext uri="{BB962C8B-B14F-4D97-AF65-F5344CB8AC3E}">
        <p14:creationId xmlns:p14="http://schemas.microsoft.com/office/powerpoint/2010/main" val="37031835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3A999-91D8-97C1-DAEE-FB404CA8C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5601"/>
          </a:xfrm>
        </p:spPr>
        <p:txBody>
          <a:bodyPr>
            <a:normAutofit fontScale="90000"/>
          </a:bodyPr>
          <a:lstStyle/>
          <a:p>
            <a:r>
              <a:rPr lang="en-US" dirty="0"/>
              <a:t>TOP3 GO Enrichment: LFY1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79C54D1-F0B5-26E2-0CC5-201555A26D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0927" y="1682238"/>
            <a:ext cx="6921500" cy="850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E804685-97CF-AE11-9B9E-F0E937F233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927" y="3671384"/>
            <a:ext cx="7772400" cy="9002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761370-45FD-31FB-4562-8F10679995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927" y="5709859"/>
            <a:ext cx="7277100" cy="876300"/>
          </a:xfrm>
          <a:prstGeom prst="rect">
            <a:avLst/>
          </a:prstGeom>
        </p:spPr>
      </p:pic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933DE2A5-78F7-0FFA-B3A7-A0CBEBB5FBEC}"/>
              </a:ext>
            </a:extLst>
          </p:cNvPr>
          <p:cNvSpPr txBox="1">
            <a:spLocks/>
          </p:cNvSpPr>
          <p:nvPr/>
        </p:nvSpPr>
        <p:spPr>
          <a:xfrm>
            <a:off x="838200" y="1223889"/>
            <a:ext cx="10515600" cy="49530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All Samples: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Sporophyte: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Gametophyte:</a:t>
            </a:r>
          </a:p>
        </p:txBody>
      </p:sp>
    </p:spTree>
    <p:extLst>
      <p:ext uri="{BB962C8B-B14F-4D97-AF65-F5344CB8AC3E}">
        <p14:creationId xmlns:p14="http://schemas.microsoft.com/office/powerpoint/2010/main" val="35383825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DD10C-3387-877B-6ACE-B7B999D8A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CEFF2-8B41-386E-FAEC-C4AF84363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5601"/>
          </a:xfrm>
        </p:spPr>
        <p:txBody>
          <a:bodyPr>
            <a:normAutofit fontScale="90000"/>
          </a:bodyPr>
          <a:lstStyle/>
          <a:p>
            <a:r>
              <a:rPr lang="en-US" dirty="0"/>
              <a:t>Top3 GO Enrichment: LFY2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AEE9FF4-4E49-BA9A-906E-4D016B92B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3889"/>
            <a:ext cx="10515600" cy="495307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All Samples: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Sporophyte: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Gametophyte: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BE4F28-1245-C028-5F1A-BB529A2872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02814"/>
            <a:ext cx="6934200" cy="889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B1AE90-7554-5DD1-10BF-4109E1A4E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806202"/>
            <a:ext cx="7747000" cy="914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F6E2184-316C-FD4A-49F9-1A515EB344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5814779"/>
            <a:ext cx="7302500" cy="85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7615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D0B8B-3A6E-A81D-8E87-BBB2E1E6F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4448"/>
            <a:ext cx="10515600" cy="971305"/>
          </a:xfrm>
        </p:spPr>
        <p:txBody>
          <a:bodyPr/>
          <a:lstStyle/>
          <a:p>
            <a:r>
              <a:rPr lang="en-US" dirty="0"/>
              <a:t>What modules are the MADS box genes in?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9D90A-24F2-689F-6AFE-AEB7888C57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6769"/>
            <a:ext cx="10515600" cy="4770194"/>
          </a:xfrm>
        </p:spPr>
        <p:txBody>
          <a:bodyPr/>
          <a:lstStyle/>
          <a:p>
            <a:r>
              <a:rPr lang="en-US" dirty="0"/>
              <a:t>WGCNA all samples: LFY1 = </a:t>
            </a:r>
            <a:r>
              <a:rPr lang="en-US" dirty="0" err="1"/>
              <a:t>midnightblue</a:t>
            </a:r>
            <a:r>
              <a:rPr lang="en-US" dirty="0"/>
              <a:t>, LFY2 = magenta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Sporophyte: LFY1 = brown, LFY2 = blue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Gametophyte: LFY1 = turquoise, LFY2 = brown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70E593-29B2-6837-0063-0647A1D7F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312" y="1986084"/>
            <a:ext cx="6375400" cy="635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F08922-58C8-6F00-377F-AED201D2A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925" y="3522723"/>
            <a:ext cx="5207000" cy="584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B0F45AA-0088-BD8A-09FB-A1F19838E7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6925" y="4899464"/>
            <a:ext cx="37465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8492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8D4A9-F2F8-8E3E-B21E-8D17F87F6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3681"/>
          </a:xfrm>
        </p:spPr>
        <p:txBody>
          <a:bodyPr>
            <a:normAutofit fontScale="90000"/>
          </a:bodyPr>
          <a:lstStyle/>
          <a:p>
            <a:r>
              <a:rPr lang="en-US" dirty="0"/>
              <a:t>TGCN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7CD53-D99A-F795-1009-4991DB6B04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7957"/>
            <a:ext cx="10515600" cy="4939006"/>
          </a:xfrm>
        </p:spPr>
        <p:txBody>
          <a:bodyPr/>
          <a:lstStyle/>
          <a:p>
            <a:r>
              <a:rPr lang="en-US" dirty="0"/>
              <a:t>Idea: build network around a trait (or gene expression) of interest</a:t>
            </a:r>
          </a:p>
          <a:p>
            <a:r>
              <a:rPr lang="en-US" dirty="0"/>
              <a:t>Method:</a:t>
            </a:r>
          </a:p>
          <a:p>
            <a:pPr lvl="1"/>
            <a:r>
              <a:rPr lang="en-US" dirty="0"/>
              <a:t>LASSO regression to identify genes that are good predictors of the trait</a:t>
            </a:r>
          </a:p>
          <a:p>
            <a:pPr lvl="2"/>
            <a:r>
              <a:rPr lang="en-US" dirty="0"/>
              <a:t>Bootstrap replicates to test reproducibility</a:t>
            </a:r>
          </a:p>
          <a:p>
            <a:pPr lvl="2"/>
            <a:r>
              <a:rPr lang="en-US" dirty="0"/>
              <a:t>Resulting genes from LASSO are “hubs”</a:t>
            </a:r>
          </a:p>
          <a:p>
            <a:pPr lvl="1"/>
            <a:r>
              <a:rPr lang="en-US" dirty="0"/>
              <a:t>Use the LASSO hub genes to build subnetworks via correlation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93448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119AB-5174-A390-AE42-45E730670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8763"/>
          </a:xfrm>
        </p:spPr>
        <p:txBody>
          <a:bodyPr/>
          <a:lstStyle/>
          <a:p>
            <a:r>
              <a:rPr lang="en-US" dirty="0"/>
              <a:t>TGCN LASSO Diagnostics LFY1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5CCB3-D93A-612F-1874-128ED61E9D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3888"/>
            <a:ext cx="10515600" cy="5103075"/>
          </a:xfrm>
        </p:spPr>
        <p:txBody>
          <a:bodyPr/>
          <a:lstStyle/>
          <a:p>
            <a:r>
              <a:rPr lang="en-US" dirty="0"/>
              <a:t>Ratio of appearance = number of times a gene appeared in 10 bootstrap.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F99B52-156F-3488-FB84-EB903081F9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0991" y="1638110"/>
            <a:ext cx="8461717" cy="5219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6724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86210-DC8C-D011-2406-9B3E264D5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13AD5-2D8A-D35E-B294-51DBF95A0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8763"/>
          </a:xfrm>
        </p:spPr>
        <p:txBody>
          <a:bodyPr/>
          <a:lstStyle/>
          <a:p>
            <a:r>
              <a:rPr lang="en-US" dirty="0"/>
              <a:t>TGCN LASSO Diagnostics LFY2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8B8B3-CAF1-7AC0-AB73-2971325C39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3888"/>
            <a:ext cx="10515600" cy="5103075"/>
          </a:xfrm>
        </p:spPr>
        <p:txBody>
          <a:bodyPr/>
          <a:lstStyle/>
          <a:p>
            <a:r>
              <a:rPr lang="en-US" dirty="0"/>
              <a:t>Ratio of appearance = number of times a gene appeared in 10 bootstrap.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53338F-31AD-5296-AA04-8FC5B3C46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9292" y="1764983"/>
            <a:ext cx="8068995" cy="4977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5348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52786-FA64-71AB-9F81-4DB0A6D3A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7410"/>
          </a:xfrm>
        </p:spPr>
        <p:txBody>
          <a:bodyPr>
            <a:normAutofit fontScale="90000"/>
          </a:bodyPr>
          <a:lstStyle/>
          <a:p>
            <a:r>
              <a:rPr lang="en-US" dirty="0"/>
              <a:t>TGCNc5 LFY 1 subnetwork correlation with LFY1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E25CA-E1B1-A4B3-218B-5F3BCBE0F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9483"/>
            <a:ext cx="10515600" cy="503748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B4898C-E199-DE31-BB4B-5CF66F62BA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152" y="942536"/>
            <a:ext cx="9461695" cy="5836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7125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7AC3F-0FB2-A3D0-4204-BBF3D51C7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C3CDB-4DCA-F1B8-1B87-38BE4B606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7410"/>
          </a:xfrm>
        </p:spPr>
        <p:txBody>
          <a:bodyPr>
            <a:normAutofit fontScale="90000"/>
          </a:bodyPr>
          <a:lstStyle/>
          <a:p>
            <a:r>
              <a:rPr lang="en-US" dirty="0"/>
              <a:t>TGCNc5 LFY 1 heatmap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A4FE5-86C3-B289-72F2-4C6928055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9483"/>
            <a:ext cx="10515600" cy="503748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27BB95-DD58-7CEB-FBA8-FAC8BD8B4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961940"/>
            <a:ext cx="9557825" cy="589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3541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F546C-F908-C590-B45B-9CB99731F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DF142-243B-C884-E737-68AB7DF49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95" y="365126"/>
            <a:ext cx="10959905" cy="577410"/>
          </a:xfrm>
        </p:spPr>
        <p:txBody>
          <a:bodyPr>
            <a:normAutofit fontScale="90000"/>
          </a:bodyPr>
          <a:lstStyle/>
          <a:p>
            <a:r>
              <a:rPr lang="en-US" dirty="0"/>
              <a:t>TGCNc5 LFY 1 GO terms (should redo on whole list)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EFEA7DC-0E77-522D-A0A0-EB48CD33AF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1256202"/>
              </p:ext>
            </p:extLst>
          </p:nvPr>
        </p:nvGraphicFramePr>
        <p:xfrm>
          <a:off x="535066" y="942536"/>
          <a:ext cx="9115373" cy="5550350"/>
        </p:xfrm>
        <a:graphic>
          <a:graphicData uri="http://schemas.openxmlformats.org/drawingml/2006/table">
            <a:tbl>
              <a:tblPr/>
              <a:tblGrid>
                <a:gridCol w="1514077">
                  <a:extLst>
                    <a:ext uri="{9D8B030D-6E8A-4147-A177-3AD203B41FA5}">
                      <a16:colId xmlns:a16="http://schemas.microsoft.com/office/drawing/2014/main" val="1742271355"/>
                    </a:ext>
                  </a:extLst>
                </a:gridCol>
                <a:gridCol w="896088">
                  <a:extLst>
                    <a:ext uri="{9D8B030D-6E8A-4147-A177-3AD203B41FA5}">
                      <a16:colId xmlns:a16="http://schemas.microsoft.com/office/drawing/2014/main" val="1852659830"/>
                    </a:ext>
                  </a:extLst>
                </a:gridCol>
                <a:gridCol w="3120856">
                  <a:extLst>
                    <a:ext uri="{9D8B030D-6E8A-4147-A177-3AD203B41FA5}">
                      <a16:colId xmlns:a16="http://schemas.microsoft.com/office/drawing/2014/main" val="3050384557"/>
                    </a:ext>
                  </a:extLst>
                </a:gridCol>
                <a:gridCol w="896088">
                  <a:extLst>
                    <a:ext uri="{9D8B030D-6E8A-4147-A177-3AD203B41FA5}">
                      <a16:colId xmlns:a16="http://schemas.microsoft.com/office/drawing/2014/main" val="814904664"/>
                    </a:ext>
                  </a:extLst>
                </a:gridCol>
                <a:gridCol w="896088">
                  <a:extLst>
                    <a:ext uri="{9D8B030D-6E8A-4147-A177-3AD203B41FA5}">
                      <a16:colId xmlns:a16="http://schemas.microsoft.com/office/drawing/2014/main" val="775730329"/>
                    </a:ext>
                  </a:extLst>
                </a:gridCol>
                <a:gridCol w="896088">
                  <a:extLst>
                    <a:ext uri="{9D8B030D-6E8A-4147-A177-3AD203B41FA5}">
                      <a16:colId xmlns:a16="http://schemas.microsoft.com/office/drawing/2014/main" val="1792133880"/>
                    </a:ext>
                  </a:extLst>
                </a:gridCol>
                <a:gridCol w="896088">
                  <a:extLst>
                    <a:ext uri="{9D8B030D-6E8A-4147-A177-3AD203B41FA5}">
                      <a16:colId xmlns:a16="http://schemas.microsoft.com/office/drawing/2014/main" val="65127678"/>
                    </a:ext>
                  </a:extLst>
                </a:gridCol>
              </a:tblGrid>
              <a:tr h="222014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query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GO.ID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Term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Annotated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Significant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Expected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p_value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6392703"/>
                  </a:ext>
                </a:extLst>
              </a:tr>
              <a:tr h="222014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Ceric.01G018500.1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GO:0010411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xyloglucan metabolic process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0.02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0.016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8614533"/>
                  </a:ext>
                </a:extLst>
              </a:tr>
              <a:tr h="222014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Ceric.01G018500.1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GO:0007275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multicellular organism development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0.02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0.019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6122183"/>
                  </a:ext>
                </a:extLst>
              </a:tr>
              <a:tr h="222014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Ceric.01G018500.1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GO:0042546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cell wall biogenesis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0.03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0.026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6834550"/>
                  </a:ext>
                </a:extLst>
              </a:tr>
              <a:tr h="222014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Ceric.01G018500.1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GO:0009664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plant-type cell wall organization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0.04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0.039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6813501"/>
                  </a:ext>
                </a:extLst>
              </a:tr>
              <a:tr h="222014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Ceric.01G042200.1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GO:0006355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regulation of DNA-templated transcriptio...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603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0.23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0.016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0172621"/>
                  </a:ext>
                </a:extLst>
              </a:tr>
              <a:tr h="222014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Ceric.02G059700.1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GO:0009116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nucleoside metabolic process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0.009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9969006"/>
                  </a:ext>
                </a:extLst>
              </a:tr>
              <a:tr h="222014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Ceric.02G059700.1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GO:0006479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protein methylation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3497556"/>
                  </a:ext>
                </a:extLst>
              </a:tr>
              <a:tr h="222014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Ceric.02G059700.1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GO:0016567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protein ubiquitination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63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0.03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0.031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4150098"/>
                  </a:ext>
                </a:extLst>
              </a:tr>
              <a:tr h="222014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Ceric.11G001200.1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GO:0006633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fatty acid biosynthetic process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87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0.03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0.033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4819957"/>
                  </a:ext>
                </a:extLst>
              </a:tr>
              <a:tr h="222014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Ceric.11G001200.1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GO:0009058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biosynthetic process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2357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0.89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0.036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8852800"/>
                  </a:ext>
                </a:extLst>
              </a:tr>
              <a:tr h="222014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Ceric.16G069600.1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GO:0007275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multicellular organism development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0.0063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0657999"/>
                  </a:ext>
                </a:extLst>
              </a:tr>
              <a:tr h="222014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Ceric.16G069600.1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GO:0030001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metal ion transport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167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0.04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0.0417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8779525"/>
                  </a:ext>
                </a:extLst>
              </a:tr>
              <a:tr h="222014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Ceric.18G036100.1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GO:0009664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plant-type cell wall organization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0.05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0.00087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9587487"/>
                  </a:ext>
                </a:extLst>
              </a:tr>
              <a:tr h="222014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Ceric.18G036100.1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GO:0010411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xyloglucan metabolic process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0.02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0.01839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773521"/>
                  </a:ext>
                </a:extLst>
              </a:tr>
              <a:tr h="222014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Ceric.18G036100.1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GO:0042546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cell wall biogenesis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0.03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0.03049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5557363"/>
                  </a:ext>
                </a:extLst>
              </a:tr>
              <a:tr h="222014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Ceric.1Z004200.1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GO:0007275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multicellular organism development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0.013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1014754"/>
                  </a:ext>
                </a:extLst>
              </a:tr>
              <a:tr h="222014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Ceric.1Z004200.1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GO:0006355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regulation of DNA-templated transcriptio...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603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0.3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0.031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8491010"/>
                  </a:ext>
                </a:extLst>
              </a:tr>
              <a:tr h="222014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Ceric.1Z119300.1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GO:0006364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rRNA processing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0.012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0875955"/>
                  </a:ext>
                </a:extLst>
              </a:tr>
              <a:tr h="222014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Ceric.1Z119300.1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GO:0006470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protein dephosphorylation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0.05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0.045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2216567"/>
                  </a:ext>
                </a:extLst>
              </a:tr>
              <a:tr h="222014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Ceric.31G020500.1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GO:0006189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'de novo' IMP biosynthetic process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0.0083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7411692"/>
                  </a:ext>
                </a:extLst>
              </a:tr>
              <a:tr h="222014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Ceric.31G020500.1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GO:0006108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malate metabolic process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0.02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0.0179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4105705"/>
                  </a:ext>
                </a:extLst>
              </a:tr>
              <a:tr h="222014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Ceric.33G032900.1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GO:0045892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negative regulation of DNA-templated tra...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0.003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5711201"/>
                  </a:ext>
                </a:extLst>
              </a:tr>
              <a:tr h="222014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Ceric.33G032900.1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GO:0006535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cysteine biosynthetic process from serin...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0.009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1242845"/>
                  </a:ext>
                </a:extLst>
              </a:tr>
              <a:tr h="222014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Ceric.33G032900.1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GO:0006096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glycolytic process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48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0.02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0.024</a:t>
                      </a:r>
                    </a:p>
                  </a:txBody>
                  <a:tcPr marL="9445" marR="9445" marT="94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8072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91673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3E387-0C49-AF55-739E-F378AB157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6742E-7218-937F-B1F2-F0DF05658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7410"/>
          </a:xfrm>
        </p:spPr>
        <p:txBody>
          <a:bodyPr>
            <a:normAutofit fontScale="90000"/>
          </a:bodyPr>
          <a:lstStyle/>
          <a:p>
            <a:r>
              <a:rPr lang="en-US" dirty="0"/>
              <a:t>TGCNc3 LFY2 subnetwork correlation with LFY2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A173A-812A-4758-BA61-4D7BAA5FA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9483"/>
            <a:ext cx="10515600" cy="503748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2E249B-5B97-2E4A-7BAC-204A4A6E4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942536"/>
            <a:ext cx="9592994" cy="5917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5528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41DBB-FA0D-CF06-5068-FBD3C0138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F9AC7-1263-D4D1-221D-11FD583CC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7410"/>
          </a:xfrm>
        </p:spPr>
        <p:txBody>
          <a:bodyPr>
            <a:normAutofit fontScale="90000"/>
          </a:bodyPr>
          <a:lstStyle/>
          <a:p>
            <a:r>
              <a:rPr lang="en-US" dirty="0"/>
              <a:t>TGCNc3 LFY2 heatmap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9054C-1BF8-1F65-C40B-A3545B4F4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9483"/>
            <a:ext cx="10515600" cy="503748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19AF48-DC71-409A-BD36-813F199AD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739" y="942536"/>
            <a:ext cx="9494521" cy="5857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8742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A576D-F3E3-0386-6FEA-0065B82E5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22431-5609-06AB-0A5F-FD3D1AF5B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95" y="365126"/>
            <a:ext cx="10959905" cy="577410"/>
          </a:xfrm>
        </p:spPr>
        <p:txBody>
          <a:bodyPr>
            <a:normAutofit fontScale="90000"/>
          </a:bodyPr>
          <a:lstStyle/>
          <a:p>
            <a:r>
              <a:rPr lang="en-US" dirty="0"/>
              <a:t>TGCNc3 LFY2 GO terms (should redo on whole list)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A13EE9AA-7DC4-98BB-38F1-D0BE0A555C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2743156"/>
              </p:ext>
            </p:extLst>
          </p:nvPr>
        </p:nvGraphicFramePr>
        <p:xfrm>
          <a:off x="520505" y="858130"/>
          <a:ext cx="10550769" cy="5902440"/>
        </p:xfrm>
        <a:graphic>
          <a:graphicData uri="http://schemas.openxmlformats.org/drawingml/2006/table">
            <a:tbl>
              <a:tblPr/>
              <a:tblGrid>
                <a:gridCol w="1745578">
                  <a:extLst>
                    <a:ext uri="{9D8B030D-6E8A-4147-A177-3AD203B41FA5}">
                      <a16:colId xmlns:a16="http://schemas.microsoft.com/office/drawing/2014/main" val="4197423283"/>
                    </a:ext>
                  </a:extLst>
                </a:gridCol>
                <a:gridCol w="1513647">
                  <a:extLst>
                    <a:ext uri="{9D8B030D-6E8A-4147-A177-3AD203B41FA5}">
                      <a16:colId xmlns:a16="http://schemas.microsoft.com/office/drawing/2014/main" val="1348452859"/>
                    </a:ext>
                  </a:extLst>
                </a:gridCol>
                <a:gridCol w="3043568">
                  <a:extLst>
                    <a:ext uri="{9D8B030D-6E8A-4147-A177-3AD203B41FA5}">
                      <a16:colId xmlns:a16="http://schemas.microsoft.com/office/drawing/2014/main" val="408726629"/>
                    </a:ext>
                  </a:extLst>
                </a:gridCol>
                <a:gridCol w="1061994">
                  <a:extLst>
                    <a:ext uri="{9D8B030D-6E8A-4147-A177-3AD203B41FA5}">
                      <a16:colId xmlns:a16="http://schemas.microsoft.com/office/drawing/2014/main" val="2584567131"/>
                    </a:ext>
                  </a:extLst>
                </a:gridCol>
                <a:gridCol w="1061994">
                  <a:extLst>
                    <a:ext uri="{9D8B030D-6E8A-4147-A177-3AD203B41FA5}">
                      <a16:colId xmlns:a16="http://schemas.microsoft.com/office/drawing/2014/main" val="3214466370"/>
                    </a:ext>
                  </a:extLst>
                </a:gridCol>
                <a:gridCol w="1061994">
                  <a:extLst>
                    <a:ext uri="{9D8B030D-6E8A-4147-A177-3AD203B41FA5}">
                      <a16:colId xmlns:a16="http://schemas.microsoft.com/office/drawing/2014/main" val="1477738453"/>
                    </a:ext>
                  </a:extLst>
                </a:gridCol>
                <a:gridCol w="1061994">
                  <a:extLst>
                    <a:ext uri="{9D8B030D-6E8A-4147-A177-3AD203B41FA5}">
                      <a16:colId xmlns:a16="http://schemas.microsoft.com/office/drawing/2014/main" val="2981950721"/>
                    </a:ext>
                  </a:extLst>
                </a:gridCol>
              </a:tblGrid>
              <a:tr h="18764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query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GO.ID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Term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Annotated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Significant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Expected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p_value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8147222"/>
                  </a:ext>
                </a:extLst>
              </a:tr>
              <a:tr h="36858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Ceric.02G085000.1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GO:0006075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(1-&gt;3)-beta-D-glucan biosynthetic proces...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0.02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0.016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645770"/>
                  </a:ext>
                </a:extLst>
              </a:tr>
              <a:tr h="18764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Ceric.02G085000.1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GO:0006820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monoatomic anion transport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0.02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0.017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9342719"/>
                  </a:ext>
                </a:extLst>
              </a:tr>
              <a:tr h="33806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Ceric.02G085000.1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GO:0006355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regulation of DNA-templated transcriptio...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603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0.61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0.018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696150"/>
                  </a:ext>
                </a:extLst>
              </a:tr>
              <a:tr h="18764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Ceric.02G085000.1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GO:0007275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multicellular organism development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0.03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0.025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1293596"/>
                  </a:ext>
                </a:extLst>
              </a:tr>
              <a:tr h="33806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Ceric.04G051800.1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GO:0006355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regulation of DNA-templated transcriptio...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603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0.76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0.0048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4967538"/>
                  </a:ext>
                </a:extLst>
              </a:tr>
              <a:tr h="18764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Ceric.04G051800.1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GO:0009107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lipoate biosynthetic process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0.0063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4785918"/>
                  </a:ext>
                </a:extLst>
              </a:tr>
              <a:tr h="18764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Ceric.04G051800.1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GO:0009116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nucleoside metabolic process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0.02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0.0225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1170707"/>
                  </a:ext>
                </a:extLst>
              </a:tr>
              <a:tr h="33806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Ceric.04G051800.1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GO:0006352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DNA-templated transcription initiation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38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0.05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0.0469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7715043"/>
                  </a:ext>
                </a:extLst>
              </a:tr>
              <a:tr h="18764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Ceric.05G066500.1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GO:0007165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signal transduction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327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0.08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0.081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5152526"/>
                  </a:ext>
                </a:extLst>
              </a:tr>
              <a:tr h="36858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Ceric.08G017200.1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GO:0016998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cell wall macromolecule catabolic proces...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0.004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2156857"/>
                  </a:ext>
                </a:extLst>
              </a:tr>
              <a:tr h="36858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Ceric.08G017200.1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GO:0006888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endoplasmic reticulum to Golgi vesicle-m...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0.0085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5464631"/>
                  </a:ext>
                </a:extLst>
              </a:tr>
              <a:tr h="18764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Ceric.08G017200.1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GO:0030163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protein catabolic process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0.03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0.0344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4079343"/>
                  </a:ext>
                </a:extLst>
              </a:tr>
              <a:tr h="18764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Ceric.08G017200.1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GO:0016192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vesicle-mediated transport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129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0.07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0.0349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1235951"/>
                  </a:ext>
                </a:extLst>
              </a:tr>
              <a:tr h="18764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Ceric.08G018900.1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GO:0006468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protein phosphorylation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983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0.62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0.016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2583135"/>
                  </a:ext>
                </a:extLst>
              </a:tr>
              <a:tr h="18764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Ceric.09G051000.1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GO:0006419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alanyl-tRNA aminoacylation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0.0019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3814678"/>
                  </a:ext>
                </a:extLst>
              </a:tr>
              <a:tr h="18764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Ceric.09G051000.1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GO:0009107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lipoate biosynthetic process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0.0031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481956"/>
                  </a:ext>
                </a:extLst>
              </a:tr>
              <a:tr h="18764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Ceric.09G051000.1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GO:0030042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actin filament depolymerization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0.0075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699484"/>
                  </a:ext>
                </a:extLst>
              </a:tr>
              <a:tr h="18764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Ceric.12G070200.1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GO:0006412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translation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447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1.18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1.90E-08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5715867"/>
                  </a:ext>
                </a:extLst>
              </a:tr>
              <a:tr h="18764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Ceric.12G070200.1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GO:0044571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[2Fe-2S] cluster assembly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0.0053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4580589"/>
                  </a:ext>
                </a:extLst>
              </a:tr>
              <a:tr h="18764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Ceric.12G070200.1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GO:0030042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actin filament depolymerization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0.03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0.0313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7442818"/>
                  </a:ext>
                </a:extLst>
              </a:tr>
              <a:tr h="36858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Ceric.12G070200.1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GO:0006888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endoplasmic reticulum to Golgi vesicle-m...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0.05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0.0441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2014472"/>
                  </a:ext>
                </a:extLst>
              </a:tr>
              <a:tr h="18764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Ceric.15G011900.1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GO:0006508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proteolysis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350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0.13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0.13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4084379"/>
                  </a:ext>
                </a:extLst>
              </a:tr>
              <a:tr h="18764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Ceric.1Z103300.1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GO:0006166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purine ribonucleoside salvage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0.0018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9053503"/>
                  </a:ext>
                </a:extLst>
              </a:tr>
              <a:tr h="18764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Ceric.1Z103300.1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GO:0006412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translation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447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0.39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0.0052</a:t>
                      </a:r>
                    </a:p>
                  </a:txBody>
                  <a:tcPr marL="6781" marR="6781" marT="67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38445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18932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6247E-78EA-3A12-32FE-9C5991735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05FC8-2B20-47B4-C4C7-4551F7985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95" y="365126"/>
            <a:ext cx="10959905" cy="577410"/>
          </a:xfrm>
        </p:spPr>
        <p:txBody>
          <a:bodyPr>
            <a:normAutofit fontScale="90000"/>
          </a:bodyPr>
          <a:lstStyle/>
          <a:p>
            <a:r>
              <a:rPr lang="en-US" dirty="0"/>
              <a:t>TGCNc3 LFY2 GO terms (should redo on whole list)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59CC864-C043-CAC2-C09C-6D5E92C74C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7667387"/>
              </p:ext>
            </p:extLst>
          </p:nvPr>
        </p:nvGraphicFramePr>
        <p:xfrm>
          <a:off x="393895" y="1217380"/>
          <a:ext cx="11352626" cy="4958334"/>
        </p:xfrm>
        <a:graphic>
          <a:graphicData uri="http://schemas.openxmlformats.org/drawingml/2006/table">
            <a:tbl>
              <a:tblPr/>
              <a:tblGrid>
                <a:gridCol w="1878240">
                  <a:extLst>
                    <a:ext uri="{9D8B030D-6E8A-4147-A177-3AD203B41FA5}">
                      <a16:colId xmlns:a16="http://schemas.microsoft.com/office/drawing/2014/main" val="3940031060"/>
                    </a:ext>
                  </a:extLst>
                </a:gridCol>
                <a:gridCol w="1628685">
                  <a:extLst>
                    <a:ext uri="{9D8B030D-6E8A-4147-A177-3AD203B41FA5}">
                      <a16:colId xmlns:a16="http://schemas.microsoft.com/office/drawing/2014/main" val="516374226"/>
                    </a:ext>
                  </a:extLst>
                </a:gridCol>
                <a:gridCol w="3274881">
                  <a:extLst>
                    <a:ext uri="{9D8B030D-6E8A-4147-A177-3AD203B41FA5}">
                      <a16:colId xmlns:a16="http://schemas.microsoft.com/office/drawing/2014/main" val="2642949737"/>
                    </a:ext>
                  </a:extLst>
                </a:gridCol>
                <a:gridCol w="1142705">
                  <a:extLst>
                    <a:ext uri="{9D8B030D-6E8A-4147-A177-3AD203B41FA5}">
                      <a16:colId xmlns:a16="http://schemas.microsoft.com/office/drawing/2014/main" val="4013067174"/>
                    </a:ext>
                  </a:extLst>
                </a:gridCol>
                <a:gridCol w="1142705">
                  <a:extLst>
                    <a:ext uri="{9D8B030D-6E8A-4147-A177-3AD203B41FA5}">
                      <a16:colId xmlns:a16="http://schemas.microsoft.com/office/drawing/2014/main" val="726481033"/>
                    </a:ext>
                  </a:extLst>
                </a:gridCol>
                <a:gridCol w="1142705">
                  <a:extLst>
                    <a:ext uri="{9D8B030D-6E8A-4147-A177-3AD203B41FA5}">
                      <a16:colId xmlns:a16="http://schemas.microsoft.com/office/drawing/2014/main" val="2224320409"/>
                    </a:ext>
                  </a:extLst>
                </a:gridCol>
                <a:gridCol w="1142705">
                  <a:extLst>
                    <a:ext uri="{9D8B030D-6E8A-4147-A177-3AD203B41FA5}">
                      <a16:colId xmlns:a16="http://schemas.microsoft.com/office/drawing/2014/main" val="3796680697"/>
                    </a:ext>
                  </a:extLst>
                </a:gridCol>
              </a:tblGrid>
              <a:tr h="263852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Ceric.21G025700.1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GO:0051252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regulation of RNA metabolic process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0.38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0.0011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2778373"/>
                  </a:ext>
                </a:extLst>
              </a:tr>
              <a:tr h="27865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Ceric.21G025700.1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GO:0006099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tricarboxylic acid cycle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0.0088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048076"/>
                  </a:ext>
                </a:extLst>
              </a:tr>
              <a:tr h="27865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Ceric.21G025700.1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GO:0019290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siderophore biosynthetic process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0.0256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887828"/>
                  </a:ext>
                </a:extLst>
              </a:tr>
              <a:tr h="27865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Ceric.22G078900.1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GO:0009956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radial pattern formation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0.00038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69299"/>
                  </a:ext>
                </a:extLst>
              </a:tr>
              <a:tr h="27865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Ceric.22G078900.1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GO:0008356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asymmetric cell division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0.00038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4108684"/>
                  </a:ext>
                </a:extLst>
              </a:tr>
              <a:tr h="27865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Ceric.22G078900.1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GO:0048366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leaf development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0.00038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8554355"/>
                  </a:ext>
                </a:extLst>
              </a:tr>
              <a:tr h="514642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Ceric.22G078900.1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GO:0006511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ubiquitin-dependent protein catabolic pr...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0.0173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319328"/>
                  </a:ext>
                </a:extLst>
              </a:tr>
              <a:tr h="27865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Ceric.22G078900.1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GO:0006979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response to oxidative stress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0.03919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620394"/>
                  </a:ext>
                </a:extLst>
              </a:tr>
              <a:tr h="27865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Ceric.32G054200.1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GO:0015693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magnesium ion transport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0.0044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2827212"/>
                  </a:ext>
                </a:extLst>
              </a:tr>
              <a:tr h="27865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Ceric.32G054200.1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GO:0007034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vacuolar transport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0.0107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223030"/>
                  </a:ext>
                </a:extLst>
              </a:tr>
              <a:tr h="27865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Ceric.34G055100.1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GO:0009956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radial pattern formation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0.0011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8817476"/>
                  </a:ext>
                </a:extLst>
              </a:tr>
              <a:tr h="27865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Ceric.34G055100.1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GO:0048366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leaf development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0.0011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1592165"/>
                  </a:ext>
                </a:extLst>
              </a:tr>
              <a:tr h="27865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Ceric.34G055100.1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GO:0008356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asymmetric cell division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0.0011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3803420"/>
                  </a:ext>
                </a:extLst>
              </a:tr>
              <a:tr h="27865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Ceric.34G055100.1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GO:0015693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magnesium ion transport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0.0079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9359865"/>
                  </a:ext>
                </a:extLst>
              </a:tr>
              <a:tr h="27865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Ceric.34G055100.1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GO:0010468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regulation of gene expression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628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0.71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0.0236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7375442"/>
                  </a:ext>
                </a:extLst>
              </a:tr>
              <a:tr h="27865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Ceric.37G009800.1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GO:0005992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trehalose biosynthetic process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9745426"/>
                  </a:ext>
                </a:extLst>
              </a:tr>
              <a:tr h="27865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Ceric.37G009800.1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GO:0006633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fatty acid biosynthetic process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0.022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31615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06351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EEAC6-DA8D-5D43-17A2-FA155961D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2832"/>
          </a:xfrm>
        </p:spPr>
        <p:txBody>
          <a:bodyPr/>
          <a:lstStyle/>
          <a:p>
            <a:r>
              <a:rPr lang="en-US" dirty="0"/>
              <a:t>MR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CC405-E479-B255-D420-B6F7A887D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8972"/>
            <a:ext cx="10515600" cy="4727991"/>
          </a:xfrm>
        </p:spPr>
        <p:txBody>
          <a:bodyPr/>
          <a:lstStyle/>
          <a:p>
            <a:r>
              <a:rPr lang="en-US" dirty="0"/>
              <a:t>Wasn’t able to prepare slides yet</a:t>
            </a:r>
          </a:p>
          <a:p>
            <a:r>
              <a:rPr lang="en-US" dirty="0"/>
              <a:t>Quick look suggests that at least for LFY1 TGCN and MR are pulling out similar genes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4265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67CC3-9297-67EE-40E6-55B3311C8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0967"/>
          </a:xfrm>
        </p:spPr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420BF-D5E3-DCC4-E27B-255C97A983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6092"/>
            <a:ext cx="10515600" cy="4910871"/>
          </a:xfrm>
        </p:spPr>
        <p:txBody>
          <a:bodyPr/>
          <a:lstStyle/>
          <a:p>
            <a:r>
              <a:rPr lang="en-US" dirty="0"/>
              <a:t>Promoter motif enrichment</a:t>
            </a:r>
          </a:p>
          <a:p>
            <a:r>
              <a:rPr lang="en-US" dirty="0"/>
              <a:t>Expand to include </a:t>
            </a:r>
            <a:r>
              <a:rPr lang="en-US"/>
              <a:t>samples from NCBI?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2087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6DFB105-54AF-2E00-4F08-E6002CBCB4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Update April 21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20BCDEA-D4C6-5FFF-A89E-E1E92D59CB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9057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262D7-5B3C-8046-EDDD-3FB127DDF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6EA29-4F19-4ACF-91FC-E3FCC6CD3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Performed Male vs Hermaphrodite DEG comparison</a:t>
            </a:r>
          </a:p>
          <a:p>
            <a:r>
              <a:rPr lang="en-US" dirty="0"/>
              <a:t>Downloaded 53 gametophyte </a:t>
            </a:r>
            <a:r>
              <a:rPr lang="en-US" dirty="0" err="1"/>
              <a:t>RNAseq</a:t>
            </a:r>
            <a:r>
              <a:rPr lang="en-US" dirty="0"/>
              <a:t> samples</a:t>
            </a:r>
          </a:p>
          <a:p>
            <a:pPr lvl="1"/>
            <a:r>
              <a:rPr lang="en-US" dirty="0"/>
              <a:t>Total count including Hannah’s samples = 71</a:t>
            </a:r>
          </a:p>
          <a:p>
            <a:r>
              <a:rPr lang="en-US" dirty="0"/>
              <a:t>Downloaded 79 sporophyte </a:t>
            </a:r>
            <a:r>
              <a:rPr lang="en-US" dirty="0" err="1"/>
              <a:t>RNAseq</a:t>
            </a:r>
            <a:r>
              <a:rPr lang="en-US" dirty="0"/>
              <a:t> samples</a:t>
            </a:r>
          </a:p>
          <a:p>
            <a:pPr lvl="1"/>
            <a:r>
              <a:rPr lang="en-US" dirty="0"/>
              <a:t>Total count including Hannah’s = 109</a:t>
            </a:r>
          </a:p>
          <a:p>
            <a:r>
              <a:rPr lang="en-US" dirty="0"/>
              <a:t>Mapped NCBI reads and got expression counts</a:t>
            </a:r>
          </a:p>
          <a:p>
            <a:r>
              <a:rPr lang="en-US" dirty="0"/>
              <a:t>WGCNA on all gametophyte and all sporophyte samples (separately)</a:t>
            </a:r>
          </a:p>
          <a:p>
            <a:r>
              <a:rPr lang="en-US" dirty="0"/>
              <a:t>TGCN on all gametophyte and all sporophyte samples (separately)</a:t>
            </a:r>
          </a:p>
        </p:txBody>
      </p:sp>
    </p:spTree>
    <p:extLst>
      <p:ext uri="{BB962C8B-B14F-4D97-AF65-F5344CB8AC3E}">
        <p14:creationId xmlns:p14="http://schemas.microsoft.com/office/powerpoint/2010/main" val="32333079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D4A5E-A207-68FF-15A7-F505B7C80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035"/>
          </a:xfrm>
        </p:spPr>
        <p:txBody>
          <a:bodyPr>
            <a:normAutofit fontScale="90000"/>
          </a:bodyPr>
          <a:lstStyle/>
          <a:p>
            <a:r>
              <a:rPr lang="en-US" dirty="0"/>
              <a:t>Gametophyte MDS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63CEA-6B61-739A-B158-33729F2673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8537"/>
            <a:ext cx="10515600" cy="4818426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5100A5-14B9-3B94-5155-23E4C39D2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885" y="978160"/>
            <a:ext cx="9531531" cy="5879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9383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D975471-4871-0415-2B3E-B55CF4D9B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713916" y="1707486"/>
            <a:ext cx="6370917" cy="39301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7BF576-03AA-9B59-795E-2F2E599ACF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740146" y="1707484"/>
            <a:ext cx="6370919" cy="39301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62EF8-A537-2555-14BA-D1D7D793E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120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US" dirty="0"/>
              <a:t>Gametophyte LFY expression</a:t>
            </a:r>
          </a:p>
        </p:txBody>
      </p:sp>
    </p:spTree>
    <p:extLst>
      <p:ext uri="{BB962C8B-B14F-4D97-AF65-F5344CB8AC3E}">
        <p14:creationId xmlns:p14="http://schemas.microsoft.com/office/powerpoint/2010/main" val="32989449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06F33-68CF-CF8D-D9E7-2E2AC4655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A514E-B454-0C71-5B73-8CF3DAEFE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5309"/>
            <a:ext cx="10515600" cy="314144"/>
          </a:xfrm>
        </p:spPr>
        <p:txBody>
          <a:bodyPr>
            <a:normAutofit fontScale="90000"/>
          </a:bodyPr>
          <a:lstStyle/>
          <a:p>
            <a:r>
              <a:rPr lang="en-US" dirty="0"/>
              <a:t>Sporophyte MDS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098F8A-9FD0-0CD2-C045-6A45A60CA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627017"/>
            <a:ext cx="10585763" cy="6544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5327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F2D6D-57F7-7F6B-019C-76EC9A55A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D4E80-F54E-78B0-0A02-F31015581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120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US" dirty="0"/>
              <a:t>Sporophyte LFY expression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245987-ED32-5BB7-DEEE-5F0D3B827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41524" y="1730244"/>
            <a:ext cx="6337356" cy="39181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950AC0E-4970-3062-1505-14DD86DB67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313122" y="1730244"/>
            <a:ext cx="6337356" cy="3918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9721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26F49-B269-5BF5-0F5F-7C5F8E32C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7652"/>
          </a:xfrm>
        </p:spPr>
        <p:txBody>
          <a:bodyPr>
            <a:normAutofit fontScale="90000"/>
          </a:bodyPr>
          <a:lstStyle/>
          <a:p>
            <a:r>
              <a:rPr lang="en-US" dirty="0"/>
              <a:t>WGCNA LFY Module Size (more samples mostly did not help)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A350E69-8D5F-136D-E721-DD30A94B9C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0445584"/>
              </p:ext>
            </p:extLst>
          </p:nvPr>
        </p:nvGraphicFramePr>
        <p:xfrm>
          <a:off x="838202" y="1825625"/>
          <a:ext cx="4543695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7432">
                  <a:extLst>
                    <a:ext uri="{9D8B030D-6E8A-4147-A177-3AD203B41FA5}">
                      <a16:colId xmlns:a16="http://schemas.microsoft.com/office/drawing/2014/main" val="3007908816"/>
                    </a:ext>
                  </a:extLst>
                </a:gridCol>
                <a:gridCol w="1201783">
                  <a:extLst>
                    <a:ext uri="{9D8B030D-6E8A-4147-A177-3AD203B41FA5}">
                      <a16:colId xmlns:a16="http://schemas.microsoft.com/office/drawing/2014/main" val="885698067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39918096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LFY1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LFY2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417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McConnell Gametophyte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6,483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3,745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123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All Gametophyte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3,212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5932856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30F8D06A-6568-D9BD-73DB-EC559643D53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29368891"/>
              </p:ext>
            </p:extLst>
          </p:nvPr>
        </p:nvGraphicFramePr>
        <p:xfrm>
          <a:off x="6810104" y="1825625"/>
          <a:ext cx="4110445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0501">
                  <a:extLst>
                    <a:ext uri="{9D8B030D-6E8A-4147-A177-3AD203B41FA5}">
                      <a16:colId xmlns:a16="http://schemas.microsoft.com/office/drawing/2014/main" val="3007908816"/>
                    </a:ext>
                  </a:extLst>
                </a:gridCol>
                <a:gridCol w="1204652">
                  <a:extLst>
                    <a:ext uri="{9D8B030D-6E8A-4147-A177-3AD203B41FA5}">
                      <a16:colId xmlns:a16="http://schemas.microsoft.com/office/drawing/2014/main" val="885698067"/>
                    </a:ext>
                  </a:extLst>
                </a:gridCol>
                <a:gridCol w="1515292">
                  <a:extLst>
                    <a:ext uri="{9D8B030D-6E8A-4147-A177-3AD203B41FA5}">
                      <a16:colId xmlns:a16="http://schemas.microsoft.com/office/drawing/2014/main" val="39918096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LFY1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LFY2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417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McConnell Sporophyte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3,736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2,521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123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All Sporophyte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6,459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6,459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59328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2335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7399D-7D78-DB32-7597-B7A9074E3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8464"/>
          </a:xfrm>
        </p:spPr>
        <p:txBody>
          <a:bodyPr>
            <a:normAutofit fontScale="90000"/>
          </a:bodyPr>
          <a:lstStyle/>
          <a:p>
            <a:r>
              <a:rPr lang="en-US" dirty="0"/>
              <a:t>TGCN LFY1 gametophyte maybe looks better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F9B904-9E08-3C91-1007-41117D3915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42" y="2534194"/>
            <a:ext cx="5844458" cy="36053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A06D268-2752-51F1-9073-A53BEE408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8142" y="2534194"/>
            <a:ext cx="6053858" cy="37394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1E569F3-54B3-0F64-B3F1-CAA4A5F2A0BF}"/>
              </a:ext>
            </a:extLst>
          </p:cNvPr>
          <p:cNvSpPr txBox="1"/>
          <p:nvPr/>
        </p:nvSpPr>
        <p:spPr>
          <a:xfrm>
            <a:off x="1789611" y="1658983"/>
            <a:ext cx="542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Old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F0A9C6-3AD1-75A5-CF7E-034EC460ACD9}"/>
              </a:ext>
            </a:extLst>
          </p:cNvPr>
          <p:cNvSpPr txBox="1"/>
          <p:nvPr/>
        </p:nvSpPr>
        <p:spPr>
          <a:xfrm>
            <a:off x="8616431" y="1699958"/>
            <a:ext cx="1548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Gametophyte</a:t>
            </a:r>
          </a:p>
        </p:txBody>
      </p:sp>
    </p:spTree>
    <p:extLst>
      <p:ext uri="{BB962C8B-B14F-4D97-AF65-F5344CB8AC3E}">
        <p14:creationId xmlns:p14="http://schemas.microsoft.com/office/powerpoint/2010/main" val="17451381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F720E-2147-A29C-4807-27D435C6D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765DB-7529-6AB5-4E14-E1F3F1CE6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8464"/>
          </a:xfrm>
        </p:spPr>
        <p:txBody>
          <a:bodyPr>
            <a:normAutofit fontScale="90000"/>
          </a:bodyPr>
          <a:lstStyle/>
          <a:p>
            <a:r>
              <a:rPr lang="en-US" dirty="0"/>
              <a:t>TGCN LFY1 sporophyte…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92137F-4680-549C-F775-E3C9AB346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42" y="2534194"/>
            <a:ext cx="5844458" cy="36053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819AFE3-4407-A255-59DE-15B2C54904BE}"/>
              </a:ext>
            </a:extLst>
          </p:cNvPr>
          <p:cNvSpPr txBox="1"/>
          <p:nvPr/>
        </p:nvSpPr>
        <p:spPr>
          <a:xfrm>
            <a:off x="1789611" y="1658983"/>
            <a:ext cx="542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Old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065DB9-4F6C-D5C9-52DB-3F61105E57EB}"/>
              </a:ext>
            </a:extLst>
          </p:cNvPr>
          <p:cNvSpPr txBox="1"/>
          <p:nvPr/>
        </p:nvSpPr>
        <p:spPr>
          <a:xfrm>
            <a:off x="8616431" y="1699958"/>
            <a:ext cx="1328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Sporophyte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C1C7D5-E152-5C44-D724-2AA99BDC63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0859" y="2815658"/>
            <a:ext cx="5381141" cy="3323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7802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25507-3B8E-C426-4E89-936EB86C1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6296F-0FE6-0FAA-3E8D-83310B2D8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8464"/>
          </a:xfrm>
        </p:spPr>
        <p:txBody>
          <a:bodyPr>
            <a:normAutofit fontScale="90000"/>
          </a:bodyPr>
          <a:lstStyle/>
          <a:p>
            <a:r>
              <a:rPr lang="en-US" dirty="0"/>
              <a:t>TGCN LFY2 gametophyte maybe looks better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4CBEB1-83D1-9767-E416-483C50C8E849}"/>
              </a:ext>
            </a:extLst>
          </p:cNvPr>
          <p:cNvSpPr txBox="1"/>
          <p:nvPr/>
        </p:nvSpPr>
        <p:spPr>
          <a:xfrm>
            <a:off x="1789611" y="1658983"/>
            <a:ext cx="542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Old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CB43A2-33C5-7D4B-0464-FE8FE8BAB9C3}"/>
              </a:ext>
            </a:extLst>
          </p:cNvPr>
          <p:cNvSpPr txBox="1"/>
          <p:nvPr/>
        </p:nvSpPr>
        <p:spPr>
          <a:xfrm>
            <a:off x="8616431" y="1699958"/>
            <a:ext cx="1548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Gametophyte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71E0A8-499F-5166-5E04-A7B42193A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639" y="3082834"/>
            <a:ext cx="5768362" cy="35630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725DBD5-976B-6D99-B754-49C3FB3A87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19" y="2992566"/>
            <a:ext cx="5775920" cy="3563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9598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CD7D5-EDF5-973C-BFA8-85DE5EB96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52164-5C7F-76F5-6D83-DC8809C15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8464"/>
          </a:xfrm>
        </p:spPr>
        <p:txBody>
          <a:bodyPr>
            <a:normAutofit fontScale="90000"/>
          </a:bodyPr>
          <a:lstStyle/>
          <a:p>
            <a:r>
              <a:rPr lang="en-US" dirty="0"/>
              <a:t>TGCN LFY2 sporophyte maybe looks better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EF1BA3-9AD0-6FA9-4869-C1BF61CB01A9}"/>
              </a:ext>
            </a:extLst>
          </p:cNvPr>
          <p:cNvSpPr txBox="1"/>
          <p:nvPr/>
        </p:nvSpPr>
        <p:spPr>
          <a:xfrm>
            <a:off x="1789611" y="1658983"/>
            <a:ext cx="542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Old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C3500E-C107-1ADD-2D96-B1F329CAF3A7}"/>
              </a:ext>
            </a:extLst>
          </p:cNvPr>
          <p:cNvSpPr txBox="1"/>
          <p:nvPr/>
        </p:nvSpPr>
        <p:spPr>
          <a:xfrm>
            <a:off x="8616431" y="1699958"/>
            <a:ext cx="1310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sporophyte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460552B-D624-6C21-B8AF-32ED8DEBA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19" y="2992566"/>
            <a:ext cx="5775920" cy="356306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C2089E5-5127-D6DE-67DA-68777B3BD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2988" y="2815657"/>
            <a:ext cx="6054766" cy="373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2282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C63BF05-1C8E-A0BD-9559-F1BB347A32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Update May 5, 2025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FBC00B8-75E4-BB5D-B0D4-1F07A48349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6110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0BEA6-6432-FED9-938B-2A77D59AD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0298"/>
          </a:xfrm>
        </p:spPr>
        <p:txBody>
          <a:bodyPr>
            <a:normAutofit fontScale="90000"/>
          </a:bodyPr>
          <a:lstStyle/>
          <a:p>
            <a:r>
              <a:rPr lang="en-US" dirty="0"/>
              <a:t>MADS box enrichment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CB90DB7-7DCF-F4C6-324F-002FDA1950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3781634"/>
              </p:ext>
            </p:extLst>
          </p:nvPr>
        </p:nvGraphicFramePr>
        <p:xfrm>
          <a:off x="838199" y="1825625"/>
          <a:ext cx="8085888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348">
                  <a:extLst>
                    <a:ext uri="{9D8B030D-6E8A-4147-A177-3AD203B41FA5}">
                      <a16:colId xmlns:a16="http://schemas.microsoft.com/office/drawing/2014/main" val="375735781"/>
                    </a:ext>
                  </a:extLst>
                </a:gridCol>
                <a:gridCol w="1588948">
                  <a:extLst>
                    <a:ext uri="{9D8B030D-6E8A-4147-A177-3AD203B41FA5}">
                      <a16:colId xmlns:a16="http://schemas.microsoft.com/office/drawing/2014/main" val="2698401654"/>
                    </a:ext>
                  </a:extLst>
                </a:gridCol>
                <a:gridCol w="1347648">
                  <a:extLst>
                    <a:ext uri="{9D8B030D-6E8A-4147-A177-3AD203B41FA5}">
                      <a16:colId xmlns:a16="http://schemas.microsoft.com/office/drawing/2014/main" val="3607594377"/>
                    </a:ext>
                  </a:extLst>
                </a:gridCol>
                <a:gridCol w="1347648">
                  <a:extLst>
                    <a:ext uri="{9D8B030D-6E8A-4147-A177-3AD203B41FA5}">
                      <a16:colId xmlns:a16="http://schemas.microsoft.com/office/drawing/2014/main" val="391318836"/>
                    </a:ext>
                  </a:extLst>
                </a:gridCol>
                <a:gridCol w="1347648">
                  <a:extLst>
                    <a:ext uri="{9D8B030D-6E8A-4147-A177-3AD203B41FA5}">
                      <a16:colId xmlns:a16="http://schemas.microsoft.com/office/drawing/2014/main" val="1839433159"/>
                    </a:ext>
                  </a:extLst>
                </a:gridCol>
                <a:gridCol w="1347648">
                  <a:extLst>
                    <a:ext uri="{9D8B030D-6E8A-4147-A177-3AD203B41FA5}">
                      <a16:colId xmlns:a16="http://schemas.microsoft.com/office/drawing/2014/main" val="2871189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# Genes in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# MADS in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P-value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273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WGCNA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gametophyte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LFY1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6330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WGCNA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gametophyte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LFY2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820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WGCNA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sporophyte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LFY1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603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WGCNA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sporophyte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LFY2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075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TGCN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gametophyte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LFY1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577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TGCN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gametophyte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LFY2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7335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TGCN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sporophyte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LFY1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0098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TGCN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sporophyte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LFY2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9783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6589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0AA61-D8B8-D611-D3B1-6DEF3A7FD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0769"/>
          </a:xfrm>
        </p:spPr>
        <p:txBody>
          <a:bodyPr/>
          <a:lstStyle/>
          <a:p>
            <a:r>
              <a:rPr lang="en-US" dirty="0"/>
              <a:t>LFY binding site enrichment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23580-C9AD-4AAA-A33D-9A75BE31A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5895"/>
            <a:ext cx="10515600" cy="4806480"/>
          </a:xfrm>
        </p:spPr>
        <p:txBody>
          <a:bodyPr/>
          <a:lstStyle/>
          <a:p>
            <a:r>
              <a:rPr lang="en-US" dirty="0"/>
              <a:t>I used the Arabidopsis site (because the PWM is in the database)</a:t>
            </a:r>
          </a:p>
          <a:p>
            <a:pPr marL="0" indent="0">
              <a:buNone/>
            </a:pPr>
            <a:r>
              <a:rPr lang="en-US" dirty="0"/>
              <a:t>(but it is VERY similar to CrLFY2 from </a:t>
            </a:r>
            <a:r>
              <a:rPr lang="en-US" dirty="0" err="1"/>
              <a:t>Sayou</a:t>
            </a:r>
            <a:r>
              <a:rPr lang="en-US" dirty="0"/>
              <a:t> et al.)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476E760-1586-D708-EF34-CBBEB5C910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05948" y="2152158"/>
            <a:ext cx="4512831" cy="22564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1B3434-FE1D-026D-B9E8-814AFA5C14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1090" y="4721957"/>
            <a:ext cx="4462546" cy="19357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F9278FF-5041-4DF8-B237-9FCC122AAE67}"/>
              </a:ext>
            </a:extLst>
          </p:cNvPr>
          <p:cNvSpPr txBox="1"/>
          <p:nvPr/>
        </p:nvSpPr>
        <p:spPr>
          <a:xfrm>
            <a:off x="4380349" y="2199189"/>
            <a:ext cx="14963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Arabidopsis</a:t>
            </a:r>
          </a:p>
        </p:txBody>
      </p:sp>
    </p:spTree>
    <p:extLst>
      <p:ext uri="{BB962C8B-B14F-4D97-AF65-F5344CB8AC3E}">
        <p14:creationId xmlns:p14="http://schemas.microsoft.com/office/powerpoint/2010/main" val="41939570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B5C80-6FF4-84CE-2D27-671E89F29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1321"/>
          </a:xfrm>
        </p:spPr>
        <p:txBody>
          <a:bodyPr/>
          <a:lstStyle/>
          <a:p>
            <a:r>
              <a:rPr lang="en-US" dirty="0"/>
              <a:t>LFY binding site enrichment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099EAB0-FE60-8B18-B09E-8C53E4C95F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4549476"/>
              </p:ext>
            </p:extLst>
          </p:nvPr>
        </p:nvGraphicFramePr>
        <p:xfrm>
          <a:off x="838199" y="1293189"/>
          <a:ext cx="10423968" cy="41353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6255">
                  <a:extLst>
                    <a:ext uri="{9D8B030D-6E8A-4147-A177-3AD203B41FA5}">
                      <a16:colId xmlns:a16="http://schemas.microsoft.com/office/drawing/2014/main" val="375735781"/>
                    </a:ext>
                  </a:extLst>
                </a:gridCol>
                <a:gridCol w="1589916">
                  <a:extLst>
                    <a:ext uri="{9D8B030D-6E8A-4147-A177-3AD203B41FA5}">
                      <a16:colId xmlns:a16="http://schemas.microsoft.com/office/drawing/2014/main" val="2698401654"/>
                    </a:ext>
                  </a:extLst>
                </a:gridCol>
                <a:gridCol w="949124">
                  <a:extLst>
                    <a:ext uri="{9D8B030D-6E8A-4147-A177-3AD203B41FA5}">
                      <a16:colId xmlns:a16="http://schemas.microsoft.com/office/drawing/2014/main" val="3607594377"/>
                    </a:ext>
                  </a:extLst>
                </a:gridCol>
                <a:gridCol w="1805650">
                  <a:extLst>
                    <a:ext uri="{9D8B030D-6E8A-4147-A177-3AD203B41FA5}">
                      <a16:colId xmlns:a16="http://schemas.microsoft.com/office/drawing/2014/main" val="391318836"/>
                    </a:ext>
                  </a:extLst>
                </a:gridCol>
                <a:gridCol w="2071869">
                  <a:extLst>
                    <a:ext uri="{9D8B030D-6E8A-4147-A177-3AD203B41FA5}">
                      <a16:colId xmlns:a16="http://schemas.microsoft.com/office/drawing/2014/main" val="1839433159"/>
                    </a:ext>
                  </a:extLst>
                </a:gridCol>
                <a:gridCol w="2581154">
                  <a:extLst>
                    <a:ext uri="{9D8B030D-6E8A-4147-A177-3AD203B41FA5}">
                      <a16:colId xmlns:a16="http://schemas.microsoft.com/office/drawing/2014/main" val="2871189003"/>
                    </a:ext>
                  </a:extLst>
                </a:gridCol>
              </a:tblGrid>
              <a:tr h="733877">
                <a:tc>
                  <a:txBody>
                    <a:bodyPr/>
                    <a:lstStyle/>
                    <a:p>
                      <a:r>
                        <a:rPr lang="en-US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Mean LFY sites in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Mean LFY sites outside of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P-value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273581"/>
                  </a:ext>
                </a:extLst>
              </a:tr>
              <a:tr h="425183">
                <a:tc>
                  <a:txBody>
                    <a:bodyPr/>
                    <a:lstStyle/>
                    <a:p>
                      <a:r>
                        <a:rPr lang="en-US" dirty="0"/>
                        <a:t>WGCNA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gametophyte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LFY1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6330490"/>
                  </a:ext>
                </a:extLst>
              </a:tr>
              <a:tr h="425183">
                <a:tc>
                  <a:txBody>
                    <a:bodyPr/>
                    <a:lstStyle/>
                    <a:p>
                      <a:r>
                        <a:rPr lang="en-US" dirty="0"/>
                        <a:t>WGCNA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gametophyte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LFY2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820335"/>
                  </a:ext>
                </a:extLst>
              </a:tr>
              <a:tr h="425183">
                <a:tc>
                  <a:txBody>
                    <a:bodyPr/>
                    <a:lstStyle/>
                    <a:p>
                      <a:r>
                        <a:rPr lang="en-US" dirty="0"/>
                        <a:t>WGCNA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sporophyte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LFY1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603657"/>
                  </a:ext>
                </a:extLst>
              </a:tr>
              <a:tr h="425183">
                <a:tc>
                  <a:txBody>
                    <a:bodyPr/>
                    <a:lstStyle/>
                    <a:p>
                      <a:r>
                        <a:rPr lang="en-US" dirty="0"/>
                        <a:t>WGCNA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sporophyte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LFY2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075192"/>
                  </a:ext>
                </a:extLst>
              </a:tr>
              <a:tr h="425183">
                <a:tc>
                  <a:txBody>
                    <a:bodyPr/>
                    <a:lstStyle/>
                    <a:p>
                      <a:r>
                        <a:rPr lang="en-US" dirty="0"/>
                        <a:t>TGCN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gametophyte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LFY1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577846"/>
                  </a:ext>
                </a:extLst>
              </a:tr>
              <a:tr h="425183">
                <a:tc>
                  <a:txBody>
                    <a:bodyPr/>
                    <a:lstStyle/>
                    <a:p>
                      <a:r>
                        <a:rPr lang="en-US" dirty="0"/>
                        <a:t>TGCN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gametophyte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LFY2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0.01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7335406"/>
                  </a:ext>
                </a:extLst>
              </a:tr>
              <a:tr h="425183">
                <a:tc>
                  <a:txBody>
                    <a:bodyPr/>
                    <a:lstStyle/>
                    <a:p>
                      <a:r>
                        <a:rPr lang="en-US" dirty="0"/>
                        <a:t>TGCN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sporophyte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LFY1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0.07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0098915"/>
                  </a:ext>
                </a:extLst>
              </a:tr>
              <a:tr h="425183">
                <a:tc>
                  <a:txBody>
                    <a:bodyPr/>
                    <a:lstStyle/>
                    <a:p>
                      <a:r>
                        <a:rPr lang="en-US" dirty="0"/>
                        <a:t>TGCN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sporophyte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LFY2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0.005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97834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AADE5CE-F9C0-732A-D819-C5BA94FD94A9}"/>
              </a:ext>
            </a:extLst>
          </p:cNvPr>
          <p:cNvSpPr txBox="1"/>
          <p:nvPr/>
        </p:nvSpPr>
        <p:spPr>
          <a:xfrm>
            <a:off x="740780" y="5645273"/>
            <a:ext cx="87080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Used t-test…probably not best choice for count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Best results defining promoter as 5,000bp upstream.  (tried 1500; 3000; 5000; 7500) </a:t>
            </a:r>
          </a:p>
        </p:txBody>
      </p:sp>
    </p:spTree>
    <p:extLst>
      <p:ext uri="{BB962C8B-B14F-4D97-AF65-F5344CB8AC3E}">
        <p14:creationId xmlns:p14="http://schemas.microsoft.com/office/powerpoint/2010/main" val="154314144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DC725-7ECD-4400-0396-9F576DA28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9665"/>
          </a:xfrm>
        </p:spPr>
        <p:txBody>
          <a:bodyPr/>
          <a:lstStyle/>
          <a:p>
            <a:r>
              <a:rPr lang="en-US" dirty="0"/>
              <a:t>Single cell / nuclei </a:t>
            </a:r>
            <a:r>
              <a:rPr lang="en-US" dirty="0" err="1"/>
              <a:t>RNAseq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9CC3F-63CA-AF81-76A0-EFAF0ED7A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1559"/>
            <a:ext cx="10515600" cy="4695404"/>
          </a:xfrm>
        </p:spPr>
        <p:txBody>
          <a:bodyPr/>
          <a:lstStyle/>
          <a:p>
            <a:r>
              <a:rPr lang="en-US" dirty="0"/>
              <a:t>Had a meeting with </a:t>
            </a:r>
            <a:r>
              <a:rPr lang="en-US" dirty="0" err="1"/>
              <a:t>Azeneta</a:t>
            </a:r>
            <a:r>
              <a:rPr lang="en-US" dirty="0"/>
              <a:t>/</a:t>
            </a:r>
            <a:r>
              <a:rPr lang="en-US" dirty="0" err="1"/>
              <a:t>Genewiz</a:t>
            </a:r>
            <a:endParaRPr lang="en-US" dirty="0"/>
          </a:p>
          <a:p>
            <a:r>
              <a:rPr lang="en-US" dirty="0"/>
              <a:t>They have done this on most/all crops</a:t>
            </a:r>
          </a:p>
          <a:p>
            <a:r>
              <a:rPr lang="en-US" dirty="0"/>
              <a:t>Prefer us to send cryo-preserved protoplasts</a:t>
            </a:r>
          </a:p>
          <a:p>
            <a:r>
              <a:rPr lang="en-US" dirty="0"/>
              <a:t>Cell vs nuclei: maximum cell size 50uM</a:t>
            </a:r>
          </a:p>
          <a:p>
            <a:r>
              <a:rPr lang="en-US" dirty="0"/>
              <a:t>Young plants work better for nuclear isolation</a:t>
            </a:r>
          </a:p>
          <a:p>
            <a:r>
              <a:rPr lang="en-US" dirty="0"/>
              <a:t>If we did four samples, ~ $1853 per sample; $</a:t>
            </a:r>
            <a:r>
              <a:rPr lang="en-US"/>
              <a:t>7500 total.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93339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B1535D1-3C20-E986-F9C2-CE3FFD20B3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Update June 10, 2025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D805173-E22D-9BAF-B561-9FD6D83F70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42900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8BF7A-6949-5BB0-E32C-CEDA346FA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“How come Marchant reports so many more expressed genes?”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327C9-DD9B-A019-228E-62C33D5D6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87996"/>
          </a:xfrm>
        </p:spPr>
        <p:txBody>
          <a:bodyPr/>
          <a:lstStyle/>
          <a:p>
            <a:r>
              <a:rPr lang="en-US" dirty="0"/>
              <a:t>Marchant: 33,301 expressed in gametophyte</a:t>
            </a:r>
          </a:p>
          <a:p>
            <a:pPr lvl="1"/>
            <a:r>
              <a:rPr lang="en-US" dirty="0"/>
              <a:t>Methods do not define criteria for “expressed”</a:t>
            </a:r>
          </a:p>
          <a:p>
            <a:r>
              <a:rPr lang="en-US" dirty="0"/>
              <a:t>Maloof (NCBI): 27,206 expressed in gametophyte</a:t>
            </a:r>
          </a:p>
          <a:p>
            <a:pPr lvl="1"/>
            <a:r>
              <a:rPr lang="en-US" dirty="0"/>
              <a:t>Criteria: &gt; 5 counts in &gt;= 3 samples</a:t>
            </a:r>
          </a:p>
          <a:p>
            <a:pPr lvl="1"/>
            <a:r>
              <a:rPr lang="en-US" dirty="0"/>
              <a:t>If I use &gt; 0 counts in &gt; 0 samples I get 32,310</a:t>
            </a:r>
          </a:p>
          <a:p>
            <a:r>
              <a:rPr lang="en-US" dirty="0"/>
              <a:t>Maloof (McConnell-All gam): </a:t>
            </a:r>
          </a:p>
          <a:p>
            <a:pPr lvl="1"/>
            <a:r>
              <a:rPr lang="en-US" dirty="0"/>
              <a:t>&gt; 5 counts &gt;= 3 samples = 24,775</a:t>
            </a:r>
          </a:p>
          <a:p>
            <a:pPr lvl="1"/>
            <a:r>
              <a:rPr lang="en-US" dirty="0"/>
              <a:t>&gt; 0 counts &gt; 0 samples = 30,628</a:t>
            </a:r>
          </a:p>
          <a:p>
            <a:r>
              <a:rPr lang="en-US" dirty="0"/>
              <a:t>Maloof (McConnell-Male vs Herm):</a:t>
            </a:r>
          </a:p>
          <a:p>
            <a:pPr lvl="1"/>
            <a:r>
              <a:rPr lang="en-US" dirty="0"/>
              <a:t>&gt; 5 counts &gt;= 3 samples = 22,719</a:t>
            </a:r>
          </a:p>
          <a:p>
            <a:pPr lvl="1"/>
            <a:r>
              <a:rPr lang="en-US" dirty="0"/>
              <a:t>&gt; 0 counts &gt;= 0 samples = 28,614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27517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661AF-0CA5-6AA3-AD62-48B9D9DA0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draft of methods for males vs hermaphrodites done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C0F60-BEC4-B091-2D06-75374CEC4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11729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0A2F5-DD89-A8C8-A5D4-E1848302A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Redid gametophyte networks without 4.5 DAG samples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0A3E3-8A9C-D5E1-4EAE-49CDB3FC4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Big picture results similar…</a:t>
            </a:r>
          </a:p>
        </p:txBody>
      </p:sp>
    </p:spTree>
    <p:extLst>
      <p:ext uri="{BB962C8B-B14F-4D97-AF65-F5344CB8AC3E}">
        <p14:creationId xmlns:p14="http://schemas.microsoft.com/office/powerpoint/2010/main" val="252987836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5DAF3-9011-0C82-0943-32E5BFCE6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5793"/>
            <a:ext cx="10515600" cy="413837"/>
          </a:xfrm>
        </p:spPr>
        <p:txBody>
          <a:bodyPr>
            <a:normAutofit fontScale="90000"/>
          </a:bodyPr>
          <a:lstStyle/>
          <a:p>
            <a:r>
              <a:rPr lang="en-US" dirty="0"/>
              <a:t>LFY1 vs male/hermaphrodite DEG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72FAE-7082-2E0B-3BD3-3D612ACA9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778962"/>
            <a:ext cx="11235267" cy="5909705"/>
          </a:xfrm>
        </p:spPr>
        <p:txBody>
          <a:bodyPr/>
          <a:lstStyle/>
          <a:p>
            <a:r>
              <a:rPr lang="en-US" dirty="0"/>
              <a:t>The genes most correlated with LFY1 are expressed higher in males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9FA76A-6C1C-4673-C9CA-C21AEEBFDE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42026"/>
            <a:ext cx="8831179" cy="54478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BAF0488-2BC5-746F-5FD1-17BF315E480B}"/>
              </a:ext>
            </a:extLst>
          </p:cNvPr>
          <p:cNvSpPr txBox="1"/>
          <p:nvPr/>
        </p:nvSpPr>
        <p:spPr>
          <a:xfrm>
            <a:off x="9345926" y="2081463"/>
            <a:ext cx="249053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(Maybe I should redo this excluding Hannah’s male vs hermaphrodite samples from the network…)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24592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8D0F6-2CC1-65BC-48A5-107F26A0A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CA4AF-4D9D-D9C5-F210-ED28572F0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13837"/>
          </a:xfrm>
        </p:spPr>
        <p:txBody>
          <a:bodyPr>
            <a:normAutofit fontScale="90000"/>
          </a:bodyPr>
          <a:lstStyle/>
          <a:p>
            <a:r>
              <a:rPr lang="en-US" dirty="0"/>
              <a:t>LFY1 vs male/hermaphrodite DEG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80C48-B1CA-776A-9F10-69DA02B4C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94874"/>
            <a:ext cx="11235267" cy="5082089"/>
          </a:xfrm>
        </p:spPr>
        <p:txBody>
          <a:bodyPr/>
          <a:lstStyle/>
          <a:p>
            <a:r>
              <a:rPr lang="en-US" dirty="0"/>
              <a:t>Looking at mutual correlation rank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2A25F6-C76D-9E4E-C6D1-6A0CE7487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491916"/>
            <a:ext cx="8698705" cy="5366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44965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95703-8235-DDAE-33BA-40730BFD0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824EF-F97C-068C-0AD7-1890692EB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13837"/>
          </a:xfrm>
        </p:spPr>
        <p:txBody>
          <a:bodyPr>
            <a:normAutofit fontScale="90000"/>
          </a:bodyPr>
          <a:lstStyle/>
          <a:p>
            <a:r>
              <a:rPr lang="en-US" dirty="0"/>
              <a:t>LFY1 vs male/hermaphrodite DEG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4C237-EDB0-170B-3A63-CC6FDC005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94874"/>
            <a:ext cx="11235267" cy="5082089"/>
          </a:xfrm>
        </p:spPr>
        <p:txBody>
          <a:bodyPr/>
          <a:lstStyle/>
          <a:p>
            <a:r>
              <a:rPr lang="en-US" dirty="0"/>
              <a:t>Looking at LFY1 correlation rank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BD4517-4FDF-6C3C-FA99-7EB654A32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532427"/>
            <a:ext cx="8470233" cy="5225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37025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3C812-1ABE-D8DA-6C9F-40D6EF7F8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2DE98-86A2-4E6D-4688-9D4BFE99B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13837"/>
          </a:xfrm>
        </p:spPr>
        <p:txBody>
          <a:bodyPr>
            <a:normAutofit fontScale="90000"/>
          </a:bodyPr>
          <a:lstStyle/>
          <a:p>
            <a:r>
              <a:rPr lang="en-US" dirty="0"/>
              <a:t>LFY2 vs male/hermaphrodite DEG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5F31A-904D-7EE1-654B-D4EE75DEB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94874"/>
            <a:ext cx="11235267" cy="5082089"/>
          </a:xfrm>
        </p:spPr>
        <p:txBody>
          <a:bodyPr/>
          <a:lstStyle/>
          <a:p>
            <a:r>
              <a:rPr lang="en-US" dirty="0"/>
              <a:t>Not much pattern with LFY2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80DEE3-8427-B637-4BC0-13DCD10BBACE}"/>
              </a:ext>
            </a:extLst>
          </p:cNvPr>
          <p:cNvSpPr txBox="1"/>
          <p:nvPr/>
        </p:nvSpPr>
        <p:spPr>
          <a:xfrm>
            <a:off x="3048000" y="310583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dirty="0"/>
            </a:b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07B65E-D1C4-E922-5E3D-5DA5534A8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00" y="1698213"/>
            <a:ext cx="7772400" cy="479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07032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50C52-BC0A-86CB-C7FC-E720C79F9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6DED9-5F78-557D-B3D5-381B0C64B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13837"/>
          </a:xfrm>
        </p:spPr>
        <p:txBody>
          <a:bodyPr>
            <a:normAutofit fontScale="90000"/>
          </a:bodyPr>
          <a:lstStyle/>
          <a:p>
            <a:r>
              <a:rPr lang="en-US" dirty="0"/>
              <a:t>LFY2 vs male/hermaphrodite DEG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FF0B5-7A68-4012-77C0-2D134451B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94874"/>
            <a:ext cx="11235267" cy="5082089"/>
          </a:xfrm>
        </p:spPr>
        <p:txBody>
          <a:bodyPr/>
          <a:lstStyle/>
          <a:p>
            <a:r>
              <a:rPr lang="en-US" dirty="0"/>
              <a:t>Looking at mutual correlation rank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8D9E40-EB3D-C7FB-A5A4-8C952704B5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698213"/>
            <a:ext cx="7772400" cy="479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1800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7665F-659E-EA41-6B4C-651E327E2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10A5D-A6B9-2F36-62BB-18E236971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13837"/>
          </a:xfrm>
        </p:spPr>
        <p:txBody>
          <a:bodyPr>
            <a:normAutofit fontScale="90000"/>
          </a:bodyPr>
          <a:lstStyle/>
          <a:p>
            <a:r>
              <a:rPr lang="en-US" dirty="0"/>
              <a:t>LFY2 vs male/hermaphrodite DEG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B39A9-C479-DEB4-A7DC-3C94738CD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94874"/>
            <a:ext cx="11235267" cy="5082089"/>
          </a:xfrm>
        </p:spPr>
        <p:txBody>
          <a:bodyPr/>
          <a:lstStyle/>
          <a:p>
            <a:r>
              <a:rPr lang="en-US" dirty="0"/>
              <a:t>Looking at LFY2 correlation rank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D6F41F-A6A6-B332-5DA5-2D8BFBFB6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66" y="1827536"/>
            <a:ext cx="7772400" cy="479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74971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B6FC157-0130-4EBE-DD66-038ABBEC17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Update June 20, 2025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7FBA964-0D71-FD48-8174-6FD6AA4DC4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1157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B2257-2E01-55C9-8F46-16158CEC2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626960"/>
          </a:xfrm>
        </p:spPr>
        <p:txBody>
          <a:bodyPr>
            <a:normAutofit fontScale="90000"/>
          </a:bodyPr>
          <a:lstStyle/>
          <a:p>
            <a:r>
              <a:rPr lang="en-US" dirty="0"/>
              <a:t>The relationship between male/hermaphrodite DEG genes and the LFY1 network persists when I build the network without the male/hermaphrodite samples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52F3F-F5DC-F4F0-E666-D22062BF7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83971"/>
            <a:ext cx="10515600" cy="3792992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DEC05A-4A3B-B6AB-1EC3-1420249EF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2636" y="2533338"/>
            <a:ext cx="6895002" cy="42534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C2CCD48-BDCB-9A27-B766-D9A26C0CE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33338"/>
            <a:ext cx="6895002" cy="42534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B0CC49-D091-C2EF-4DEB-89AD80E5B9C3}"/>
              </a:ext>
            </a:extLst>
          </p:cNvPr>
          <p:cNvSpPr txBox="1"/>
          <p:nvPr/>
        </p:nvSpPr>
        <p:spPr>
          <a:xfrm>
            <a:off x="4209860" y="2607092"/>
            <a:ext cx="960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Original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000675-9D14-D9E0-6DF3-9B7E0B281C20}"/>
              </a:ext>
            </a:extLst>
          </p:cNvPr>
          <p:cNvSpPr txBox="1"/>
          <p:nvPr/>
        </p:nvSpPr>
        <p:spPr>
          <a:xfrm>
            <a:off x="9264871" y="2653259"/>
            <a:ext cx="28005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New: male/herm samples </a:t>
            </a:r>
          </a:p>
          <a:p>
            <a:r>
              <a:rPr lang="en-US" dirty="0"/>
              <a:t>removed</a:t>
            </a:r>
          </a:p>
        </p:txBody>
      </p:sp>
    </p:spTree>
    <p:extLst>
      <p:ext uri="{BB962C8B-B14F-4D97-AF65-F5344CB8AC3E}">
        <p14:creationId xmlns:p14="http://schemas.microsoft.com/office/powerpoint/2010/main" val="71040342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AC4D1-467F-3EAB-85E5-64B1F4967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9177"/>
          </a:xfrm>
        </p:spPr>
        <p:txBody>
          <a:bodyPr/>
          <a:lstStyle/>
          <a:p>
            <a:r>
              <a:rPr lang="en-US" dirty="0"/>
              <a:t>Trying to ID genes in the cluster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086C2-1C1D-21D2-47AF-E4131D2B2F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4223"/>
            <a:ext cx="10515600" cy="4992740"/>
          </a:xfrm>
        </p:spPr>
        <p:txBody>
          <a:bodyPr/>
          <a:lstStyle/>
          <a:p>
            <a:r>
              <a:rPr lang="en-US" dirty="0"/>
              <a:t>First attempt: use WGCNA modules</a:t>
            </a:r>
          </a:p>
          <a:p>
            <a:r>
              <a:rPr lang="en-US" dirty="0"/>
              <a:t>Maybe Turquoise?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F92570-B1A4-25D3-F750-E285387BE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063338"/>
            <a:ext cx="7772400" cy="479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0090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78798-9009-85D2-C348-F2150335F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187-106A-F394-D798-E4FE70DEA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0255"/>
            <a:ext cx="10515600" cy="699177"/>
          </a:xfrm>
        </p:spPr>
        <p:txBody>
          <a:bodyPr/>
          <a:lstStyle/>
          <a:p>
            <a:r>
              <a:rPr lang="en-US" dirty="0"/>
              <a:t>Trying to ID genes in the cluster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36C0A-0045-0765-A63D-03FB18823A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9413"/>
            <a:ext cx="10515600" cy="4992740"/>
          </a:xfrm>
        </p:spPr>
        <p:txBody>
          <a:bodyPr/>
          <a:lstStyle/>
          <a:p>
            <a:r>
              <a:rPr lang="en-US" dirty="0"/>
              <a:t>First attempt: use WGCNA modules</a:t>
            </a:r>
          </a:p>
          <a:p>
            <a:r>
              <a:rPr lang="en-US" dirty="0"/>
              <a:t>Maybe Turquoise? Yes, but too broad and not specific enough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BE9B88-0E6D-2B12-8FA3-E1D52262D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7787" y="2586818"/>
            <a:ext cx="6014213" cy="37100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62C657-8F9D-302D-1834-9D7176D48C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573" y="2526856"/>
            <a:ext cx="6014214" cy="371006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B23C205-90D8-F1DE-95C2-D71D24B3F11F}"/>
              </a:ext>
            </a:extLst>
          </p:cNvPr>
          <p:cNvSpPr txBox="1"/>
          <p:nvPr/>
        </p:nvSpPr>
        <p:spPr>
          <a:xfrm>
            <a:off x="838200" y="2496875"/>
            <a:ext cx="2253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Plot turquoise on top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A3EEDC-62E3-7FB7-3079-F1ED8744E817}"/>
              </a:ext>
            </a:extLst>
          </p:cNvPr>
          <p:cNvSpPr txBox="1"/>
          <p:nvPr/>
        </p:nvSpPr>
        <p:spPr>
          <a:xfrm>
            <a:off x="6847696" y="2496875"/>
            <a:ext cx="2652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Plot turquoise on bottom</a:t>
            </a:r>
          </a:p>
        </p:txBody>
      </p:sp>
    </p:spTree>
    <p:extLst>
      <p:ext uri="{BB962C8B-B14F-4D97-AF65-F5344CB8AC3E}">
        <p14:creationId xmlns:p14="http://schemas.microsoft.com/office/powerpoint/2010/main" val="158314198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B2F27-FAFD-98EB-0CB7-EC011927C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7E9D5-B85C-A53F-08DE-9AD78AB91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0255"/>
            <a:ext cx="10515600" cy="699177"/>
          </a:xfrm>
        </p:spPr>
        <p:txBody>
          <a:bodyPr/>
          <a:lstStyle/>
          <a:p>
            <a:r>
              <a:rPr lang="en-US" dirty="0"/>
              <a:t>Trying to ID genes in the cluster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950DC-87E0-B546-B675-1F85E085F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9413"/>
            <a:ext cx="10515600" cy="4992740"/>
          </a:xfrm>
        </p:spPr>
        <p:txBody>
          <a:bodyPr/>
          <a:lstStyle/>
          <a:p>
            <a:r>
              <a:rPr lang="en-US" dirty="0"/>
              <a:t>Second attempt: density-based clustering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4CA6D3C-8B5A-0C19-7FE9-42134634F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52252"/>
            <a:ext cx="6655633" cy="41057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23FEE4-F4B5-DCA3-183E-8916B53C05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752253"/>
            <a:ext cx="6655633" cy="410574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8094D0-790B-D043-F70C-4B22134EF593}"/>
              </a:ext>
            </a:extLst>
          </p:cNvPr>
          <p:cNvSpPr txBox="1"/>
          <p:nvPr/>
        </p:nvSpPr>
        <p:spPr>
          <a:xfrm>
            <a:off x="418475" y="3059668"/>
            <a:ext cx="1995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Plot cluster on top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95DD42-1CF6-B59E-FD12-0AA2CAA036E6}"/>
              </a:ext>
            </a:extLst>
          </p:cNvPr>
          <p:cNvSpPr txBox="1"/>
          <p:nvPr/>
        </p:nvSpPr>
        <p:spPr>
          <a:xfrm>
            <a:off x="6453265" y="3026451"/>
            <a:ext cx="2394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Plot cluster on bottom</a:t>
            </a:r>
          </a:p>
        </p:txBody>
      </p:sp>
    </p:spTree>
    <p:extLst>
      <p:ext uri="{BB962C8B-B14F-4D97-AF65-F5344CB8AC3E}">
        <p14:creationId xmlns:p14="http://schemas.microsoft.com/office/powerpoint/2010/main" val="362473135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26C8C-1E87-BA20-8C37-FDAD49221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92521-E8E8-9115-D3C8-2C88D65B1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0255"/>
            <a:ext cx="10515600" cy="699177"/>
          </a:xfrm>
        </p:spPr>
        <p:txBody>
          <a:bodyPr/>
          <a:lstStyle/>
          <a:p>
            <a:r>
              <a:rPr lang="en-US" dirty="0"/>
              <a:t>Trying to ID genes in the cluster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59A93-390C-E975-D91A-CF69F179E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9413"/>
            <a:ext cx="10515600" cy="4992740"/>
          </a:xfrm>
        </p:spPr>
        <p:txBody>
          <a:bodyPr/>
          <a:lstStyle/>
          <a:p>
            <a:r>
              <a:rPr lang="en-US" dirty="0"/>
              <a:t>Second attempt: density-based clustering</a:t>
            </a:r>
          </a:p>
          <a:p>
            <a:r>
              <a:rPr lang="en-US" dirty="0"/>
              <a:t>View using correlation axis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23ED43-794E-D933-FBC2-61F4CB945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893083"/>
            <a:ext cx="7772400" cy="479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31377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C1482-8A90-EAD3-19CA-7CB12CE34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53A7F-0A12-B463-D47D-581CBE0B1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0255"/>
            <a:ext cx="10515600" cy="699177"/>
          </a:xfrm>
        </p:spPr>
        <p:txBody>
          <a:bodyPr/>
          <a:lstStyle/>
          <a:p>
            <a:r>
              <a:rPr lang="en-US"/>
              <a:t>There are 1180 genes in the cluster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D1C95-0C5D-7E41-4329-DA6A7C9B2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9413"/>
            <a:ext cx="10515600" cy="499274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DC0627-15C5-6887-3A9F-9B0610E112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203" y="965848"/>
            <a:ext cx="9275498" cy="5721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19621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565E7-B132-8D12-AE31-0996FD266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4245"/>
          </a:xfrm>
        </p:spPr>
        <p:txBody>
          <a:bodyPr>
            <a:normAutofit fontScale="90000"/>
          </a:bodyPr>
          <a:lstStyle/>
          <a:p>
            <a:r>
              <a:rPr lang="en-US" dirty="0"/>
              <a:t>GO enrichment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E28C41-01FB-25A6-86CA-B299093501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58" y="1603948"/>
            <a:ext cx="11892284" cy="337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8291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B4C22-EDB6-0517-E6CE-211082D79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69000"/>
          </a:xfrm>
        </p:spPr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73862-A9D6-5374-0526-32BD96E7A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8997"/>
            <a:ext cx="10515600" cy="4647966"/>
          </a:xfrm>
        </p:spPr>
        <p:txBody>
          <a:bodyPr/>
          <a:lstStyle/>
          <a:p>
            <a:r>
              <a:rPr lang="en-US" i="1" dirty="0"/>
              <a:t>A priori </a:t>
            </a:r>
            <a:r>
              <a:rPr lang="en-US" dirty="0"/>
              <a:t>gene location in network</a:t>
            </a:r>
          </a:p>
          <a:p>
            <a:r>
              <a:rPr lang="en-US" dirty="0"/>
              <a:t>Compare location of </a:t>
            </a:r>
            <a:r>
              <a:rPr lang="en-US" i="1" dirty="0"/>
              <a:t>a priori</a:t>
            </a:r>
            <a:r>
              <a:rPr lang="en-US" dirty="0"/>
              <a:t> genes in </a:t>
            </a:r>
            <a:r>
              <a:rPr lang="en-US" i="1" dirty="0"/>
              <a:t>C. </a:t>
            </a:r>
            <a:r>
              <a:rPr lang="en-US" i="1" dirty="0" err="1"/>
              <a:t>richardii</a:t>
            </a:r>
            <a:r>
              <a:rPr lang="en-US" dirty="0"/>
              <a:t> and Arabidopsis networks.</a:t>
            </a:r>
          </a:p>
        </p:txBody>
      </p:sp>
    </p:spTree>
    <p:extLst>
      <p:ext uri="{BB962C8B-B14F-4D97-AF65-F5344CB8AC3E}">
        <p14:creationId xmlns:p14="http://schemas.microsoft.com/office/powerpoint/2010/main" val="359788295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D3C66B-36A9-E95C-95E0-B55E31FB3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July 03, 2025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D13849-6405-781B-A975-555E22BCDE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06912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C55B7D-D215-E987-CA71-7032FABB8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2230"/>
          </a:xfrm>
        </p:spPr>
        <p:txBody>
          <a:bodyPr/>
          <a:lstStyle/>
          <a:p>
            <a:r>
              <a:rPr lang="en-US" dirty="0"/>
              <a:t>Reviewed 2015 Arabidopsis Analysis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37F7A59-C89D-BD35-BD0C-8769B6724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2072"/>
            <a:ext cx="10515600" cy="4784891"/>
          </a:xfrm>
        </p:spPr>
        <p:txBody>
          <a:bodyPr/>
          <a:lstStyle/>
          <a:p>
            <a:r>
              <a:rPr lang="en-US" dirty="0"/>
              <a:t>Developmental Atlas approach did not work(!)</a:t>
            </a:r>
          </a:p>
          <a:p>
            <a:pPr lvl="1"/>
            <a:r>
              <a:rPr lang="en-US" dirty="0"/>
              <a:t>I tried a variety of gene subsets from the developmental atlas</a:t>
            </a:r>
          </a:p>
          <a:p>
            <a:pPr lvl="1"/>
            <a:r>
              <a:rPr lang="en-US" dirty="0"/>
              <a:t>WGCNA </a:t>
            </a:r>
            <a:r>
              <a:rPr lang="en-US" i="1" dirty="0"/>
              <a:t>LFY</a:t>
            </a:r>
            <a:r>
              <a:rPr lang="en-US" dirty="0"/>
              <a:t> module sizes 2250 – 8500</a:t>
            </a:r>
          </a:p>
          <a:p>
            <a:pPr lvl="1"/>
            <a:r>
              <a:rPr lang="en-US" dirty="0"/>
              <a:t>For the full dataset and two subsets, little enrichment for known targets</a:t>
            </a:r>
          </a:p>
          <a:p>
            <a:pPr lvl="1"/>
            <a:r>
              <a:rPr lang="en-US" dirty="0"/>
              <a:t>For a hand-selected subset focusing on diversity in </a:t>
            </a:r>
            <a:r>
              <a:rPr lang="en-US" i="1" dirty="0"/>
              <a:t>LFY</a:t>
            </a:r>
            <a:r>
              <a:rPr lang="en-US" dirty="0"/>
              <a:t> levels some target enrichment</a:t>
            </a:r>
          </a:p>
          <a:p>
            <a:r>
              <a:rPr lang="en-US" dirty="0"/>
              <a:t>What did work was a floral induction series with WT and </a:t>
            </a:r>
            <a:r>
              <a:rPr lang="en-US" i="1" dirty="0" err="1"/>
              <a:t>lfy</a:t>
            </a:r>
            <a:r>
              <a:rPr lang="en-US" dirty="0"/>
              <a:t> mutant plants</a:t>
            </a:r>
          </a:p>
          <a:p>
            <a:pPr lvl="1"/>
            <a:r>
              <a:rPr lang="en-US" dirty="0"/>
              <a:t>This is why the original grant plan (pre-budget cut) was inducible LFY constructs (along with </a:t>
            </a:r>
            <a:r>
              <a:rPr lang="en-US" dirty="0" err="1"/>
              <a:t>ChIP</a:t>
            </a:r>
            <a:r>
              <a:rPr lang="en-US" dirty="0"/>
              <a:t>-seq to ID </a:t>
            </a:r>
            <a:r>
              <a:rPr lang="en-US" i="1" dirty="0"/>
              <a:t>bona fide</a:t>
            </a:r>
            <a:r>
              <a:rPr lang="en-US" dirty="0"/>
              <a:t> targets).</a:t>
            </a:r>
          </a:p>
        </p:txBody>
      </p:sp>
    </p:spTree>
    <p:extLst>
      <p:ext uri="{BB962C8B-B14F-4D97-AF65-F5344CB8AC3E}">
        <p14:creationId xmlns:p14="http://schemas.microsoft.com/office/powerpoint/2010/main" val="3267670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 bldLvl="2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C5FCB8-58C1-BAF3-1C20-EF7A617FBF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Update Dec 02, 2025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56C2AE3-2DBD-A6C5-49F5-A35B0475ED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And Redo with </a:t>
            </a:r>
            <a:r>
              <a:rPr lang="en-US" dirty="0" err="1"/>
              <a:t>Andy;s</a:t>
            </a:r>
            <a:r>
              <a:rPr lang="en-US" dirty="0"/>
              <a:t> </a:t>
            </a:r>
            <a:r>
              <a:rPr lang="en-US"/>
              <a:t>new dataset Jan 13, 2026</a:t>
            </a:r>
          </a:p>
        </p:txBody>
      </p:sp>
    </p:spTree>
    <p:extLst>
      <p:ext uri="{BB962C8B-B14F-4D97-AF65-F5344CB8AC3E}">
        <p14:creationId xmlns:p14="http://schemas.microsoft.com/office/powerpoint/2010/main" val="334173930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35837-6B4C-07DF-2C01-6D067CC18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69064"/>
          </a:xfrm>
        </p:spPr>
        <p:txBody>
          <a:bodyPr>
            <a:normAutofit fontScale="90000"/>
          </a:bodyPr>
          <a:lstStyle/>
          <a:p>
            <a:r>
              <a:rPr lang="en-US" dirty="0"/>
              <a:t>Background for Andy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94512-ABC0-F9CC-3764-9D6A66CF1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25975"/>
            <a:ext cx="10515600" cy="5566899"/>
          </a:xfrm>
        </p:spPr>
        <p:txBody>
          <a:bodyPr/>
          <a:lstStyle/>
          <a:p>
            <a:r>
              <a:rPr lang="en-US" dirty="0"/>
              <a:t>Original Goal:</a:t>
            </a:r>
          </a:p>
          <a:p>
            <a:pPr lvl="1"/>
            <a:r>
              <a:rPr lang="en-US" dirty="0"/>
              <a:t>Define CrLFY1 and CrLFY2 GRN and make evo. </a:t>
            </a:r>
            <a:r>
              <a:rPr lang="en-US" dirty="0" err="1"/>
              <a:t>Comparisions</a:t>
            </a:r>
            <a:endParaRPr lang="en-US" dirty="0"/>
          </a:p>
          <a:p>
            <a:r>
              <a:rPr lang="en-US" dirty="0"/>
              <a:t>Original plan:</a:t>
            </a:r>
          </a:p>
          <a:p>
            <a:pPr lvl="1"/>
            <a:r>
              <a:rPr lang="en-US" dirty="0"/>
              <a:t>Inducible GR-LFY fusions</a:t>
            </a:r>
          </a:p>
          <a:p>
            <a:pPr lvl="1"/>
            <a:r>
              <a:rPr lang="en-US" dirty="0" err="1"/>
              <a:t>ChIP</a:t>
            </a:r>
            <a:r>
              <a:rPr lang="en-US" dirty="0"/>
              <a:t> on GUS or GR lines or native protein</a:t>
            </a:r>
          </a:p>
          <a:p>
            <a:pPr lvl="1"/>
            <a:r>
              <a:rPr lang="en-US" dirty="0"/>
              <a:t>CRISPR KO</a:t>
            </a:r>
          </a:p>
          <a:p>
            <a:pPr lvl="1"/>
            <a:r>
              <a:rPr lang="en-US" dirty="0" err="1"/>
              <a:t>RNAseq</a:t>
            </a:r>
            <a:r>
              <a:rPr lang="en-US" dirty="0"/>
              <a:t> on inducible lines plus existing RNAi and OX lines, &amp; developmental time course</a:t>
            </a:r>
          </a:p>
          <a:p>
            <a:r>
              <a:rPr lang="en-US" dirty="0"/>
              <a:t>Funding cut</a:t>
            </a:r>
          </a:p>
          <a:p>
            <a:pPr lvl="1"/>
            <a:r>
              <a:rPr lang="en-US" dirty="0"/>
              <a:t>Plan deemed too ambition, funding cut to essentially  only find resource development</a:t>
            </a:r>
          </a:p>
          <a:p>
            <a:pPr lvl="1"/>
            <a:r>
              <a:rPr lang="en-US" dirty="0"/>
              <a:t>GR-LFY and CRISPR constructs made but not transformed…</a:t>
            </a:r>
          </a:p>
        </p:txBody>
      </p:sp>
    </p:spTree>
    <p:extLst>
      <p:ext uri="{BB962C8B-B14F-4D97-AF65-F5344CB8AC3E}">
        <p14:creationId xmlns:p14="http://schemas.microsoft.com/office/powerpoint/2010/main" val="360559713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D7FE6-6106-556C-44A9-74AFEEECD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2D210-0983-5607-EEE9-8F65378B2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69064"/>
          </a:xfrm>
        </p:spPr>
        <p:txBody>
          <a:bodyPr>
            <a:normAutofit fontScale="90000"/>
          </a:bodyPr>
          <a:lstStyle/>
          <a:p>
            <a:r>
              <a:rPr lang="en-US" dirty="0"/>
              <a:t>Background for Andy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14ED2-81B1-168A-67CA-CF8FA45C2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25975"/>
            <a:ext cx="10515600" cy="5566899"/>
          </a:xfrm>
        </p:spPr>
        <p:txBody>
          <a:bodyPr/>
          <a:lstStyle/>
          <a:p>
            <a:r>
              <a:rPr lang="en-US" dirty="0"/>
              <a:t>What we have</a:t>
            </a:r>
          </a:p>
          <a:p>
            <a:pPr lvl="1"/>
            <a:r>
              <a:rPr lang="en-US" dirty="0" err="1"/>
              <a:t>RNAseq</a:t>
            </a:r>
            <a:r>
              <a:rPr lang="en-US" dirty="0"/>
              <a:t> on WT, RNAi and OX lines, multiple tissues. But RNAi and OX lines did not “behave”</a:t>
            </a:r>
          </a:p>
          <a:p>
            <a:pPr lvl="1"/>
            <a:r>
              <a:rPr lang="en-US" dirty="0" err="1"/>
              <a:t>RNAseq</a:t>
            </a:r>
            <a:r>
              <a:rPr lang="en-US" dirty="0"/>
              <a:t> on mature males and hermaphrodites</a:t>
            </a:r>
          </a:p>
          <a:p>
            <a:pPr lvl="1"/>
            <a:r>
              <a:rPr lang="en-US" dirty="0"/>
              <a:t>47 gametophyte </a:t>
            </a:r>
            <a:r>
              <a:rPr lang="en-US" dirty="0" err="1"/>
              <a:t>RNAseq</a:t>
            </a:r>
            <a:r>
              <a:rPr lang="en-US" dirty="0"/>
              <a:t> samples from public domain</a:t>
            </a:r>
          </a:p>
          <a:p>
            <a:pPr lvl="1"/>
            <a:r>
              <a:rPr lang="en-US" dirty="0"/>
              <a:t>79 sporophyte </a:t>
            </a:r>
            <a:r>
              <a:rPr lang="en-US" dirty="0" err="1"/>
              <a:t>RNAseq</a:t>
            </a:r>
            <a:r>
              <a:rPr lang="en-US" dirty="0"/>
              <a:t> samples from public domain</a:t>
            </a:r>
          </a:p>
          <a:p>
            <a:r>
              <a:rPr lang="en-US" dirty="0"/>
              <a:t>What I have done</a:t>
            </a:r>
          </a:p>
          <a:p>
            <a:pPr lvl="1"/>
            <a:r>
              <a:rPr lang="en-US" dirty="0"/>
              <a:t>WGCNA networks on NCBI + Hannah samples, separately for sporophyte and gametophyte</a:t>
            </a:r>
          </a:p>
          <a:p>
            <a:pPr lvl="1"/>
            <a:r>
              <a:rPr lang="en-US" dirty="0"/>
              <a:t>TGCNA networks </a:t>
            </a:r>
          </a:p>
          <a:p>
            <a:pPr lvl="1"/>
            <a:r>
              <a:rPr lang="en-US" dirty="0"/>
              <a:t>Mutual rank networks</a:t>
            </a:r>
          </a:p>
          <a:p>
            <a:pPr lvl="1"/>
            <a:r>
              <a:rPr lang="en-US" dirty="0"/>
              <a:t>Generally </a:t>
            </a:r>
            <a:r>
              <a:rPr lang="en-US" dirty="0" err="1"/>
              <a:t>CrLFYs</a:t>
            </a:r>
            <a:r>
              <a:rPr lang="en-US" dirty="0"/>
              <a:t> are in very large modules</a:t>
            </a:r>
          </a:p>
          <a:p>
            <a:pPr lvl="1"/>
            <a:r>
              <a:rPr lang="en-US" dirty="0"/>
              <a:t>Little to no enrichment for MADS box genes in </a:t>
            </a:r>
            <a:r>
              <a:rPr lang="en-US" dirty="0" err="1"/>
              <a:t>CrLFY</a:t>
            </a:r>
            <a:r>
              <a:rPr lang="en-US" dirty="0"/>
              <a:t> modules</a:t>
            </a:r>
          </a:p>
        </p:txBody>
      </p:sp>
    </p:spTree>
    <p:extLst>
      <p:ext uri="{BB962C8B-B14F-4D97-AF65-F5344CB8AC3E}">
        <p14:creationId xmlns:p14="http://schemas.microsoft.com/office/powerpoint/2010/main" val="275381849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2A7AA-56EE-ED14-BDB8-682BD4DB7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24B7F-443A-8453-D4C2-851D73051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69064"/>
          </a:xfrm>
        </p:spPr>
        <p:txBody>
          <a:bodyPr>
            <a:normAutofit fontScale="90000"/>
          </a:bodyPr>
          <a:lstStyle/>
          <a:p>
            <a:r>
              <a:rPr lang="en-US" dirty="0"/>
              <a:t>Background for Andy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328F5-4B4F-FB89-C6B1-BCC8BC8B22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25975"/>
            <a:ext cx="10515600" cy="5566899"/>
          </a:xfrm>
        </p:spPr>
        <p:txBody>
          <a:bodyPr/>
          <a:lstStyle/>
          <a:p>
            <a:r>
              <a:rPr lang="en-US" dirty="0"/>
              <a:t>What I have done</a:t>
            </a:r>
          </a:p>
          <a:p>
            <a:pPr lvl="1"/>
            <a:r>
              <a:rPr lang="en-US" dirty="0"/>
              <a:t>WGCNA networks on NCBI + Hannah samples, separately for sporophyte and gametophyte</a:t>
            </a:r>
          </a:p>
          <a:p>
            <a:pPr lvl="1"/>
            <a:r>
              <a:rPr lang="en-US" dirty="0"/>
              <a:t>TGCN networks </a:t>
            </a:r>
          </a:p>
          <a:p>
            <a:pPr lvl="1"/>
            <a:r>
              <a:rPr lang="en-US" dirty="0"/>
              <a:t>Mutual rank networks</a:t>
            </a:r>
          </a:p>
          <a:p>
            <a:pPr lvl="1"/>
            <a:r>
              <a:rPr lang="en-US" dirty="0"/>
              <a:t>Generally, </a:t>
            </a:r>
            <a:r>
              <a:rPr lang="en-US" dirty="0" err="1"/>
              <a:t>CrLFYs</a:t>
            </a:r>
            <a:r>
              <a:rPr lang="en-US" dirty="0"/>
              <a:t> are in very large modules</a:t>
            </a:r>
          </a:p>
          <a:p>
            <a:pPr lvl="1"/>
            <a:r>
              <a:rPr lang="en-US" dirty="0"/>
              <a:t>Little to no enrichment for MADS box genes in </a:t>
            </a:r>
            <a:r>
              <a:rPr lang="en-US" dirty="0" err="1"/>
              <a:t>CrLFY</a:t>
            </a:r>
            <a:r>
              <a:rPr lang="en-US" dirty="0"/>
              <a:t> modules</a:t>
            </a:r>
          </a:p>
          <a:p>
            <a:pPr lvl="1"/>
            <a:r>
              <a:rPr lang="en-US" dirty="0"/>
              <a:t>Motif analysis (some enrichment for LFY motif in some networks)</a:t>
            </a:r>
          </a:p>
          <a:p>
            <a:pPr lvl="1"/>
            <a:r>
              <a:rPr lang="en-US" dirty="0"/>
              <a:t>GO enrichment</a:t>
            </a:r>
          </a:p>
          <a:p>
            <a:pPr lvl="1"/>
            <a:r>
              <a:rPr lang="en-US" dirty="0"/>
              <a:t>GSEA for </a:t>
            </a:r>
            <a:r>
              <a:rPr lang="en-US" dirty="0" err="1"/>
              <a:t>A.t.</a:t>
            </a:r>
            <a:r>
              <a:rPr lang="en-US" dirty="0"/>
              <a:t> reproductive categories</a:t>
            </a:r>
          </a:p>
          <a:p>
            <a:r>
              <a:rPr lang="en-US" dirty="0"/>
              <a:t>Probably the most interesting result is the intersection between the CrLFY1 MR network and the male vs hermaphrodite DEG (you have seen this)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340536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9CB3D-150F-498C-390A-70051007E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Andy’s Annotations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5549B-ADDC-B132-AAA2-F4D1A0EA3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Andy has</a:t>
            </a:r>
          </a:p>
          <a:p>
            <a:pPr lvl="1"/>
            <a:r>
              <a:rPr lang="en-US" dirty="0"/>
              <a:t>Updated GO and other functional annotations</a:t>
            </a:r>
          </a:p>
          <a:p>
            <a:pPr lvl="2"/>
            <a:r>
              <a:rPr lang="en-US" dirty="0"/>
              <a:t>Although only minor difference</a:t>
            </a:r>
          </a:p>
          <a:p>
            <a:pPr lvl="1"/>
            <a:r>
              <a:rPr lang="en-US" dirty="0"/>
              <a:t>Categories of Arabidopsis genes based on expression in reproductive tissues</a:t>
            </a:r>
          </a:p>
          <a:p>
            <a:pPr lvl="1"/>
            <a:r>
              <a:rPr lang="en-US" dirty="0"/>
              <a:t>Ortholog clusters Arabidopsis </a:t>
            </a:r>
            <a:r>
              <a:rPr lang="en-US" dirty="0">
                <a:sym typeface="Wingdings" pitchFamily="2" charset="2"/>
              </a:rPr>
              <a:t>  C-fern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4838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4BDE8-A362-F07F-3253-8BF9E455E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Things that can be done with Andy’s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25A04-EC18-2F64-83A6-4BEBAFCF69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US" dirty="0"/>
              <a:t>Use new GO categories and annotations for male vs hermaphrodite DEG. (not done)</a:t>
            </a:r>
          </a:p>
          <a:p>
            <a:r>
              <a:rPr lang="en-US" dirty="0"/>
              <a:t>Use new GO categories for GO enrichment in WGCNA modules (not done)</a:t>
            </a:r>
          </a:p>
          <a:p>
            <a:r>
              <a:rPr lang="en-US" dirty="0"/>
              <a:t>Look for enrichment of reproductive gene categories in WGCNA modules (done)</a:t>
            </a:r>
          </a:p>
          <a:p>
            <a:r>
              <a:rPr lang="en-US" dirty="0"/>
              <a:t>Look for enrichment of reproductive gene categories in male vs hermaphrodite DEG (done)</a:t>
            </a:r>
          </a:p>
          <a:p>
            <a:r>
              <a:rPr lang="en-US" dirty="0"/>
              <a:t>Look for enrichment of reproductive gene categories in LFY MR networks (GSEA analysis done…nothing significant)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9696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45870-2C02-703B-EA14-322A7C1A6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148" y="2313194"/>
            <a:ext cx="3574774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Enrichment of reproductive gene categories in WGCNA modules (gametophyte)</a:t>
            </a:r>
            <a:br>
              <a:rPr lang="en-US" dirty="0"/>
            </a:br>
            <a:endParaRPr lang="en-US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C1F3AAB6-DDA4-97FF-24B6-20DE4F4279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1119809" cy="1119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1A594E-776A-DCC8-E4A3-4C67BE390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82511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B45CD-397C-F496-CA38-4ECEDDE7E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F3AA4-2C63-BB7A-B42A-81A50D2B5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148" y="2313194"/>
            <a:ext cx="3574774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NEW Enrichment of reproductive gene categories in WGCNA modules (gametophyte)</a:t>
            </a:r>
            <a:br>
              <a:rPr lang="en-US" dirty="0"/>
            </a:br>
            <a:endParaRPr lang="en-US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74A8630B-5D00-2B2D-AD30-DF26054BE5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1119809" cy="1119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F1204A-7152-A299-D6C7-773A05613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16329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21506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46A6F-6287-142B-A181-466ACF4B9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CEEAD-3ED9-55D5-4D91-E9F570DA0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148" y="2313194"/>
            <a:ext cx="3574774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Enrichment of reproductive gene categories in WGCNA modules (sporophyte)</a:t>
            </a:r>
            <a:br>
              <a:rPr lang="en-US" dirty="0"/>
            </a:br>
            <a:endParaRPr lang="en-US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27D95D89-F4D1-98EC-16B0-5FFE2A8F408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1119809" cy="1119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DA6654-B24E-0FB6-B185-669EC86B3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40786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DF27E-5D44-8207-601B-DF079EC20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B0075-2355-6B34-A170-514275380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148" y="2313194"/>
            <a:ext cx="3574774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NEW Enrichment of reproductive gene categories in WGCNA modules (sporophyte)</a:t>
            </a:r>
            <a:br>
              <a:rPr lang="en-US" dirty="0"/>
            </a:br>
            <a:endParaRPr lang="en-US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9D2F395E-A258-31F4-E29D-132FD8FCD55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1119809" cy="1119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981235-A7C3-8786-2626-ADB20B1D0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82517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8167D-EFBB-D239-E5E6-EA17A4235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4922A-FE7B-FB61-65CD-C0602F9DA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148" y="556592"/>
            <a:ext cx="11208026" cy="834886"/>
          </a:xfrm>
        </p:spPr>
        <p:txBody>
          <a:bodyPr>
            <a:normAutofit fontScale="90000"/>
          </a:bodyPr>
          <a:lstStyle/>
          <a:p>
            <a:r>
              <a:rPr lang="en-US" dirty="0"/>
              <a:t>Enrichment of reproductive gene categories in male vs hermaphrodite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3DA33FFF-3D5A-A25A-6583-49B52E01450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1119809" cy="1119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15CD49-296B-1737-CAA5-B88FD1F0D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481" y="2305878"/>
            <a:ext cx="11425037" cy="264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82122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B9533-CC15-070A-C37D-96706828C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8BD63-2108-0F05-4C52-58CCD100E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148" y="556592"/>
            <a:ext cx="11208026" cy="834886"/>
          </a:xfrm>
        </p:spPr>
        <p:txBody>
          <a:bodyPr>
            <a:normAutofit fontScale="90000"/>
          </a:bodyPr>
          <a:lstStyle/>
          <a:p>
            <a:r>
              <a:rPr lang="en-US" dirty="0"/>
              <a:t>NEW Enrichment of reproductive gene categories in male vs hermaphrodite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8CAF0DD3-93BE-41CE-FEF5-1D32D4BD82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1119809" cy="1119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7EA1BB9-E6B5-D254-2030-1DAAD6E05F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106628"/>
              </p:ext>
            </p:extLst>
          </p:nvPr>
        </p:nvGraphicFramePr>
        <p:xfrm>
          <a:off x="405114" y="1525574"/>
          <a:ext cx="11323060" cy="49215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2501">
                  <a:extLst>
                    <a:ext uri="{9D8B030D-6E8A-4147-A177-3AD203B41FA5}">
                      <a16:colId xmlns:a16="http://schemas.microsoft.com/office/drawing/2014/main" val="4106535460"/>
                    </a:ext>
                  </a:extLst>
                </a:gridCol>
                <a:gridCol w="3942415">
                  <a:extLst>
                    <a:ext uri="{9D8B030D-6E8A-4147-A177-3AD203B41FA5}">
                      <a16:colId xmlns:a16="http://schemas.microsoft.com/office/drawing/2014/main" val="4114122685"/>
                    </a:ext>
                  </a:extLst>
                </a:gridCol>
                <a:gridCol w="1602368">
                  <a:extLst>
                    <a:ext uri="{9D8B030D-6E8A-4147-A177-3AD203B41FA5}">
                      <a16:colId xmlns:a16="http://schemas.microsoft.com/office/drawing/2014/main" val="3788018828"/>
                    </a:ext>
                  </a:extLst>
                </a:gridCol>
                <a:gridCol w="1845764">
                  <a:extLst>
                    <a:ext uri="{9D8B030D-6E8A-4147-A177-3AD203B41FA5}">
                      <a16:colId xmlns:a16="http://schemas.microsoft.com/office/drawing/2014/main" val="9238096"/>
                    </a:ext>
                  </a:extLst>
                </a:gridCol>
                <a:gridCol w="2150012">
                  <a:extLst>
                    <a:ext uri="{9D8B030D-6E8A-4147-A177-3AD203B41FA5}">
                      <a16:colId xmlns:a16="http://schemas.microsoft.com/office/drawing/2014/main" val="4033823860"/>
                    </a:ext>
                  </a:extLst>
                </a:gridCol>
              </a:tblGrid>
              <a:tr h="3383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module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u="none" strike="noStrike">
                          <a:effectLst/>
                        </a:rPr>
                        <a:t>gene.category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estimate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1" u="none" strike="noStrike">
                          <a:effectLst/>
                        </a:rPr>
                        <a:t>fisher.fdr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1" u="none" strike="noStrike" dirty="0" err="1">
                          <a:effectLst/>
                        </a:rPr>
                        <a:t>fisher.p.value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77808443"/>
                  </a:ext>
                </a:extLst>
              </a:tr>
              <a:tr h="3383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upHermaphrodite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Carpel.expressed.3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2.02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1.45E-04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2.11E-06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22761427"/>
                  </a:ext>
                </a:extLst>
              </a:tr>
              <a:tr h="5234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upHermaphrodite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Vegetative.specific..seedling.leaf.root.stem.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1.58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1.45E-04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3.45E-06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63995089"/>
                  </a:ext>
                </a:extLst>
              </a:tr>
              <a:tr h="3383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upHermaphrodite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Megaspore.Mother.Cell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5.56E-04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1.98E-05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48837899"/>
                  </a:ext>
                </a:extLst>
              </a:tr>
              <a:tr h="3383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upHermaphrodite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Micropylar.Endosperm..MCE.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1.32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8.64E-03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6.17E-04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58280602"/>
                  </a:ext>
                </a:extLst>
              </a:tr>
              <a:tr h="3383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upHermaphrodite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Central.Cell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8.97E-03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8.54E-04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19164452"/>
                  </a:ext>
                </a:extLst>
              </a:tr>
              <a:tr h="3383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upHermaphrodite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Mature.green.stage.seed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1.43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2.97E-02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3.19E-03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73412430"/>
                  </a:ext>
                </a:extLst>
              </a:tr>
              <a:tr h="3383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upHermaphrodite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Seed.Coat..SC.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1.30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2.97E-02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3.61E-03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98498586"/>
                  </a:ext>
                </a:extLst>
              </a:tr>
              <a:tr h="3383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upHermaphrodite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Chalazal.Seed.Coat..CZSC.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1.29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2.97E-02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3.89E-03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65913725"/>
                  </a:ext>
                </a:extLst>
              </a:tr>
              <a:tr h="3383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upMale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Post.pollination.stage.pollen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1.39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5.96E-03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3.04E-04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60857858"/>
                  </a:ext>
                </a:extLst>
              </a:tr>
              <a:tr h="3383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upMale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Early.ovule..whole.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5.96E-03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3.55E-04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78654245"/>
                  </a:ext>
                </a:extLst>
              </a:tr>
              <a:tr h="3383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upMale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Stamen.expressed.7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1.21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8.97E-03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7.92E-04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38313917"/>
                  </a:ext>
                </a:extLst>
              </a:tr>
              <a:tr h="3383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upMale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Early.stage.pollen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1.52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4.16E-02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6.17E-03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79834449"/>
                  </a:ext>
                </a:extLst>
              </a:tr>
              <a:tr h="3383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upMale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Stamen.all.tissues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1.18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4.16E-02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6.44E-03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67529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640306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61C986-23B7-8487-A306-C1BA924516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4827" y="681035"/>
            <a:ext cx="5157173" cy="31813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B228C63-BD6B-09FF-E50B-A3AFEAC2E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0145"/>
            <a:ext cx="10515600" cy="881783"/>
          </a:xfrm>
        </p:spPr>
        <p:txBody>
          <a:bodyPr>
            <a:normAutofit fontScale="90000"/>
          </a:bodyPr>
          <a:lstStyle/>
          <a:p>
            <a:r>
              <a:rPr lang="en-US" dirty="0"/>
              <a:t>Enrichment of reproductive gene categories in Male/Hermaphrodite LFY1 cluster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F7959D-8733-A2FF-768E-524613E6DE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444" y="3862409"/>
            <a:ext cx="11303112" cy="3031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17700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342EC-1007-72DD-9BB6-415B5C1FB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97F816-767E-F92D-E93C-86A244B57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4827" y="657886"/>
            <a:ext cx="5157173" cy="31813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E1B83A-9BDE-78D8-7DC5-11273F0B3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643" y="240145"/>
            <a:ext cx="11099157" cy="881783"/>
          </a:xfrm>
        </p:spPr>
        <p:txBody>
          <a:bodyPr>
            <a:normAutofit fontScale="90000"/>
          </a:bodyPr>
          <a:lstStyle/>
          <a:p>
            <a:r>
              <a:rPr lang="en-US" dirty="0"/>
              <a:t>NEW Enrichment of reproductive gene categories in Male/Hermaphrodite LFY1 cluster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E67AFAC-15AC-BF6A-8B50-608FA6DB37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9572986"/>
              </p:ext>
            </p:extLst>
          </p:nvPr>
        </p:nvGraphicFramePr>
        <p:xfrm>
          <a:off x="68157" y="1730537"/>
          <a:ext cx="7339639" cy="46239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22065">
                  <a:extLst>
                    <a:ext uri="{9D8B030D-6E8A-4147-A177-3AD203B41FA5}">
                      <a16:colId xmlns:a16="http://schemas.microsoft.com/office/drawing/2014/main" val="1453746736"/>
                    </a:ext>
                  </a:extLst>
                </a:gridCol>
                <a:gridCol w="2745991">
                  <a:extLst>
                    <a:ext uri="{9D8B030D-6E8A-4147-A177-3AD203B41FA5}">
                      <a16:colId xmlns:a16="http://schemas.microsoft.com/office/drawing/2014/main" val="293841555"/>
                    </a:ext>
                  </a:extLst>
                </a:gridCol>
                <a:gridCol w="1023861">
                  <a:extLst>
                    <a:ext uri="{9D8B030D-6E8A-4147-A177-3AD203B41FA5}">
                      <a16:colId xmlns:a16="http://schemas.microsoft.com/office/drawing/2014/main" val="3528715635"/>
                    </a:ext>
                  </a:extLst>
                </a:gridCol>
                <a:gridCol w="1023861">
                  <a:extLst>
                    <a:ext uri="{9D8B030D-6E8A-4147-A177-3AD203B41FA5}">
                      <a16:colId xmlns:a16="http://schemas.microsoft.com/office/drawing/2014/main" val="2137141716"/>
                    </a:ext>
                  </a:extLst>
                </a:gridCol>
                <a:gridCol w="1023861">
                  <a:extLst>
                    <a:ext uri="{9D8B030D-6E8A-4147-A177-3AD203B41FA5}">
                      <a16:colId xmlns:a16="http://schemas.microsoft.com/office/drawing/2014/main" val="2745036105"/>
                    </a:ext>
                  </a:extLst>
                </a:gridCol>
              </a:tblGrid>
              <a:tr h="6412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u="none" strike="noStrike">
                          <a:effectLst/>
                        </a:rPr>
                        <a:t>module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u="none" strike="noStrike">
                          <a:effectLst/>
                        </a:rPr>
                        <a:t>gene.category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u="none" strike="noStrike">
                          <a:effectLst/>
                        </a:rPr>
                        <a:t>estimate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u="none" strike="noStrike">
                          <a:effectLst/>
                        </a:rPr>
                        <a:t>fisher.fdr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u="none" strike="noStrike" dirty="0" err="1">
                          <a:effectLst/>
                        </a:rPr>
                        <a:t>fisher.p.value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27696862"/>
                  </a:ext>
                </a:extLst>
              </a:tr>
              <a:tr h="34723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in_LFY1_cluster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Stamen.expressed.7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2.75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9.86E-13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2.35E-14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59295935"/>
                  </a:ext>
                </a:extLst>
              </a:tr>
              <a:tr h="5103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in_LFY1_cluster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Stamen.spl.nzz.downregulated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3.08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8.78E-12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4.18E-13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91362926"/>
                  </a:ext>
                </a:extLst>
              </a:tr>
              <a:tr h="34723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in_LFY1_cluster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Stamen.all.tissues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2.69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4.80E-11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3.43E-12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16359638"/>
                  </a:ext>
                </a:extLst>
              </a:tr>
              <a:tr h="34723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in_LFY1_cluster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Embryo.specific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1.72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4.86E-09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4.62E-10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96805256"/>
                  </a:ext>
                </a:extLst>
              </a:tr>
              <a:tr h="34723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in_LFY1_cluster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Stamen.ms1.downregulated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2.81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1.78E-05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2.12E-06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78095039"/>
                  </a:ext>
                </a:extLst>
              </a:tr>
              <a:tr h="34723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in_LFY1_cluster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Post.pollination.stage.pollen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2.59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1.86E-05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2.66E-06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2699960"/>
                  </a:ext>
                </a:extLst>
              </a:tr>
              <a:tr h="34723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in_LFY1_cluster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Mature.pollen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2.00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9.37E-03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1.65E-03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9296129"/>
                  </a:ext>
                </a:extLst>
              </a:tr>
              <a:tr h="34723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in_LFY1_cluster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Late.stamen..whole.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2.61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9.37E-03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1.78E-03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53293543"/>
                  </a:ext>
                </a:extLst>
              </a:tr>
              <a:tr h="34723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in_LFY1_cluster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Embryo.sac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1.68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1.71E-02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3.67E-03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61552296"/>
                  </a:ext>
                </a:extLst>
              </a:tr>
              <a:tr h="34723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in_LFY1_cluster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Intermediate.stamen..whole.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2.35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1.81E-02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4.43E-03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94433719"/>
                  </a:ext>
                </a:extLst>
              </a:tr>
              <a:tr h="34723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in_LFY1_cluster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 err="1">
                          <a:effectLst/>
                        </a:rPr>
                        <a:t>Stamen.specific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2.65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1.81E-02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4.75E-03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373435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128976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8A8826-2813-3AE0-F2DC-92D73B4249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Overview of fern</a:t>
            </a:r>
            <a:br>
              <a:rPr lang="en-US" dirty="0"/>
            </a:br>
            <a:r>
              <a:rPr lang="en-US" dirty="0"/>
              <a:t>LFY investigation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A6831EF-99F4-913A-645D-B591DBD048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Jan 30, 2026</a:t>
            </a:r>
          </a:p>
          <a:p>
            <a:endParaRPr lang="en-US" dirty="0"/>
          </a:p>
          <a:p>
            <a:r>
              <a:rPr lang="en-US" dirty="0"/>
              <a:t>Julin Maloof.  UC Davis.</a:t>
            </a:r>
          </a:p>
        </p:txBody>
      </p:sp>
    </p:spTree>
    <p:extLst>
      <p:ext uri="{BB962C8B-B14F-4D97-AF65-F5344CB8AC3E}">
        <p14:creationId xmlns:p14="http://schemas.microsoft.com/office/powerpoint/2010/main" val="389167301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2A78D-9964-C9C6-CB45-1180A3483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AE0B6-2350-E123-C812-5ADB79866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69064"/>
          </a:xfrm>
        </p:spPr>
        <p:txBody>
          <a:bodyPr>
            <a:normAutofit fontScale="90000"/>
          </a:bodyPr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289A5-6AC0-7AF4-4916-DE17BC892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25975"/>
            <a:ext cx="10515600" cy="5566899"/>
          </a:xfrm>
        </p:spPr>
        <p:txBody>
          <a:bodyPr/>
          <a:lstStyle/>
          <a:p>
            <a:r>
              <a:rPr lang="en-US" dirty="0"/>
              <a:t>Original Goal:</a:t>
            </a:r>
          </a:p>
          <a:p>
            <a:pPr lvl="1"/>
            <a:r>
              <a:rPr lang="en-US" dirty="0"/>
              <a:t>Define CrLFY1 and CrLFY2 GRN and make evo. Comparisons</a:t>
            </a:r>
          </a:p>
          <a:p>
            <a:r>
              <a:rPr lang="en-US" dirty="0"/>
              <a:t>Original plan:</a:t>
            </a:r>
          </a:p>
          <a:p>
            <a:pPr lvl="1"/>
            <a:r>
              <a:rPr lang="en-US" dirty="0"/>
              <a:t>Inducible GR-LFY fusions</a:t>
            </a:r>
          </a:p>
          <a:p>
            <a:pPr lvl="1"/>
            <a:r>
              <a:rPr lang="en-US" dirty="0" err="1"/>
              <a:t>ChIP</a:t>
            </a:r>
            <a:r>
              <a:rPr lang="en-US" dirty="0"/>
              <a:t> on GUS or GR lines or native protein</a:t>
            </a:r>
          </a:p>
          <a:p>
            <a:pPr lvl="1"/>
            <a:r>
              <a:rPr lang="en-US" dirty="0"/>
              <a:t>CRISPR KO</a:t>
            </a:r>
          </a:p>
          <a:p>
            <a:pPr lvl="1"/>
            <a:r>
              <a:rPr lang="en-US" dirty="0" err="1"/>
              <a:t>RNAseq</a:t>
            </a:r>
            <a:r>
              <a:rPr lang="en-US" dirty="0"/>
              <a:t> on inducible lines plus existing RNAi and OX lines, &amp; developmental time course</a:t>
            </a:r>
          </a:p>
          <a:p>
            <a:r>
              <a:rPr lang="en-US" dirty="0"/>
              <a:t>Funding cut</a:t>
            </a:r>
          </a:p>
          <a:p>
            <a:pPr lvl="1"/>
            <a:r>
              <a:rPr lang="en-US" dirty="0"/>
              <a:t>Plan deemed too ambition, funding cut to essentially  only find resource development</a:t>
            </a:r>
          </a:p>
          <a:p>
            <a:pPr lvl="1"/>
            <a:r>
              <a:rPr lang="en-US" dirty="0"/>
              <a:t>GR-LFY and CRISPR constructs made but not transformed…</a:t>
            </a:r>
          </a:p>
        </p:txBody>
      </p:sp>
    </p:spTree>
    <p:extLst>
      <p:ext uri="{BB962C8B-B14F-4D97-AF65-F5344CB8AC3E}">
        <p14:creationId xmlns:p14="http://schemas.microsoft.com/office/powerpoint/2010/main" val="210183301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7F1FB-67B0-C070-800F-745A08CAE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00398-63D5-B115-CFDD-7CC8AB7A9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69064"/>
          </a:xfrm>
        </p:spPr>
        <p:txBody>
          <a:bodyPr>
            <a:normAutofit fontScale="90000"/>
          </a:bodyPr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BD365-E635-1EEE-29B7-BE6C3D25DD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25975"/>
            <a:ext cx="10515600" cy="5566899"/>
          </a:xfrm>
        </p:spPr>
        <p:txBody>
          <a:bodyPr/>
          <a:lstStyle/>
          <a:p>
            <a:r>
              <a:rPr lang="en-US" dirty="0"/>
              <a:t>What we have</a:t>
            </a:r>
          </a:p>
          <a:p>
            <a:pPr lvl="1"/>
            <a:r>
              <a:rPr lang="en-US" dirty="0" err="1"/>
              <a:t>RNAseq</a:t>
            </a:r>
            <a:r>
              <a:rPr lang="en-US" dirty="0"/>
              <a:t> on WT, RNAi and OX lines, multiple tissues. But RNAi and OX lines did not “behave”</a:t>
            </a:r>
          </a:p>
          <a:p>
            <a:pPr lvl="2"/>
            <a:r>
              <a:rPr lang="en-US" dirty="0"/>
              <a:t>Still need to confirm based on Andy’s suggestions…</a:t>
            </a:r>
          </a:p>
          <a:p>
            <a:pPr lvl="1"/>
            <a:r>
              <a:rPr lang="en-US" dirty="0" err="1"/>
              <a:t>RNAseq</a:t>
            </a:r>
            <a:r>
              <a:rPr lang="en-US" dirty="0"/>
              <a:t> on mature males and hermaphrodites</a:t>
            </a:r>
          </a:p>
          <a:p>
            <a:pPr lvl="1"/>
            <a:r>
              <a:rPr lang="en-US" dirty="0"/>
              <a:t>47 gametophyte </a:t>
            </a:r>
            <a:r>
              <a:rPr lang="en-US" dirty="0" err="1"/>
              <a:t>RNAseq</a:t>
            </a:r>
            <a:r>
              <a:rPr lang="en-US" dirty="0"/>
              <a:t> samples from public domain</a:t>
            </a:r>
          </a:p>
          <a:p>
            <a:pPr lvl="1"/>
            <a:r>
              <a:rPr lang="en-US" dirty="0"/>
              <a:t>79 sporophyte </a:t>
            </a:r>
            <a:r>
              <a:rPr lang="en-US" dirty="0" err="1"/>
              <a:t>RNAseq</a:t>
            </a:r>
            <a:r>
              <a:rPr lang="en-US" dirty="0"/>
              <a:t> samples from public domain</a:t>
            </a:r>
          </a:p>
        </p:txBody>
      </p:sp>
    </p:spTree>
    <p:extLst>
      <p:ext uri="{BB962C8B-B14F-4D97-AF65-F5344CB8AC3E}">
        <p14:creationId xmlns:p14="http://schemas.microsoft.com/office/powerpoint/2010/main" val="309988219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E2EE3-BC85-2A99-449F-8A6174D98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03DD2-D612-1556-B629-8576766B9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69064"/>
          </a:xfrm>
        </p:spPr>
        <p:txBody>
          <a:bodyPr>
            <a:normAutofit fontScale="90000"/>
          </a:bodyPr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69FB6-5DAD-16A5-5767-8C80E60EA1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25975"/>
            <a:ext cx="10515600" cy="5566899"/>
          </a:xfrm>
        </p:spPr>
        <p:txBody>
          <a:bodyPr/>
          <a:lstStyle/>
          <a:p>
            <a:r>
              <a:rPr lang="en-US" dirty="0"/>
              <a:t>What I have done</a:t>
            </a:r>
          </a:p>
          <a:p>
            <a:pPr lvl="1"/>
            <a:r>
              <a:rPr lang="en-US" dirty="0"/>
              <a:t>WGCNA networks on NCBI + Hannah samples, separately for sporophyte and gametophyte</a:t>
            </a:r>
          </a:p>
          <a:p>
            <a:pPr lvl="1"/>
            <a:r>
              <a:rPr lang="en-US" dirty="0"/>
              <a:t>TGCN networks </a:t>
            </a:r>
          </a:p>
          <a:p>
            <a:pPr lvl="1"/>
            <a:r>
              <a:rPr lang="en-US" dirty="0"/>
              <a:t>Mutual rank networks</a:t>
            </a:r>
          </a:p>
          <a:p>
            <a:pPr lvl="1"/>
            <a:r>
              <a:rPr lang="en-US" dirty="0"/>
              <a:t>Generally, </a:t>
            </a:r>
            <a:r>
              <a:rPr lang="en-US" dirty="0" err="1"/>
              <a:t>CrLFYs</a:t>
            </a:r>
            <a:r>
              <a:rPr lang="en-US" dirty="0"/>
              <a:t> are in very large modules</a:t>
            </a:r>
          </a:p>
          <a:p>
            <a:pPr lvl="1"/>
            <a:r>
              <a:rPr lang="en-US" dirty="0"/>
              <a:t>Some enrichment for MADS box genes with gametophyte CrLFY2 network</a:t>
            </a:r>
          </a:p>
          <a:p>
            <a:pPr lvl="1"/>
            <a:r>
              <a:rPr lang="en-US" dirty="0"/>
              <a:t>Motif analysis (some enrichment for LFY motif in some networks)</a:t>
            </a:r>
          </a:p>
          <a:p>
            <a:pPr lvl="1"/>
            <a:r>
              <a:rPr lang="en-US" dirty="0"/>
              <a:t>GO enrichment</a:t>
            </a:r>
          </a:p>
          <a:p>
            <a:pPr lvl="1"/>
            <a:r>
              <a:rPr lang="en-US" dirty="0"/>
              <a:t>GSEA for </a:t>
            </a:r>
            <a:r>
              <a:rPr lang="en-US" dirty="0" err="1"/>
              <a:t>A.t.</a:t>
            </a:r>
            <a:r>
              <a:rPr lang="en-US" dirty="0"/>
              <a:t> reproductive categories</a:t>
            </a:r>
          </a:p>
          <a:p>
            <a:pPr lvl="1"/>
            <a:r>
              <a:rPr lang="en-US" dirty="0"/>
              <a:t>CrLFY1 in Male vs Hermaphrodite Differential expressed genes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011889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C6737-CE29-8B96-54D4-B9D00EEA1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WGCNA Network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47FF6-86E1-EA2B-FF1C-77B43F6204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(Note: we have publication plans for the gametophyte data)</a:t>
            </a:r>
          </a:p>
        </p:txBody>
      </p:sp>
    </p:spTree>
    <p:extLst>
      <p:ext uri="{BB962C8B-B14F-4D97-AF65-F5344CB8AC3E}">
        <p14:creationId xmlns:p14="http://schemas.microsoft.com/office/powerpoint/2010/main" val="26754769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0E632-7A3C-227D-B2A9-4BAD834DC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3B8D3-3EF6-C988-700F-057071782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035"/>
          </a:xfrm>
        </p:spPr>
        <p:txBody>
          <a:bodyPr>
            <a:normAutofit fontScale="90000"/>
          </a:bodyPr>
          <a:lstStyle/>
          <a:p>
            <a:r>
              <a:rPr lang="en-US" dirty="0"/>
              <a:t>Gametophyte Sample MDS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3737B-2F0C-50F7-2651-B4456D07D3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8537"/>
            <a:ext cx="10515600" cy="4818426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EABB7E-F3C6-89DD-FA7D-759052FC5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978160"/>
            <a:ext cx="9531531" cy="5879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74033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8ABB7-245D-0B0F-F1E4-700E5802F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4697454-5FBA-A81E-62FC-61A498D39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713916" y="1707486"/>
            <a:ext cx="6370917" cy="39301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B036CD-B3DC-294C-7207-D4015A5339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740146" y="1707484"/>
            <a:ext cx="6370919" cy="39301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0C7DFA-9D61-EF92-70BD-249E3378F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120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US" dirty="0"/>
              <a:t>Gametophyte LFY expression</a:t>
            </a:r>
          </a:p>
        </p:txBody>
      </p:sp>
    </p:spTree>
    <p:extLst>
      <p:ext uri="{BB962C8B-B14F-4D97-AF65-F5344CB8AC3E}">
        <p14:creationId xmlns:p14="http://schemas.microsoft.com/office/powerpoint/2010/main" val="179386013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AEAD5-7062-B59C-162B-F0D2C348D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33F30-5C16-30B5-BEBC-A22C2835F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5309"/>
            <a:ext cx="10515600" cy="314144"/>
          </a:xfrm>
        </p:spPr>
        <p:txBody>
          <a:bodyPr>
            <a:normAutofit fontScale="90000"/>
          </a:bodyPr>
          <a:lstStyle/>
          <a:p>
            <a:r>
              <a:rPr lang="en-US" dirty="0"/>
              <a:t>Sporophyte Sample MDS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7BCB96-3238-913A-B7C0-FFB3B8B72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627017"/>
            <a:ext cx="10585763" cy="6544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44205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16890-C0A3-1868-297C-E2CAE9015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6EE50-72EB-F38D-FFB8-F312F1CA9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120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US" dirty="0"/>
              <a:t>Sporophyte LFY expression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94EC49-C37E-5C3C-231A-C119F26CD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41524" y="1730244"/>
            <a:ext cx="6337356" cy="39181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4F7F00A-956C-FEAE-931A-D781A78B1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313122" y="1730244"/>
            <a:ext cx="6337356" cy="3918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89116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52D60-EB1D-4AC5-18C1-3F7ADB7E6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76FD2-2301-A01C-EEF1-D99546D98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155" y="0"/>
            <a:ext cx="7868479" cy="798678"/>
          </a:xfrm>
        </p:spPr>
        <p:txBody>
          <a:bodyPr>
            <a:normAutofit/>
          </a:bodyPr>
          <a:lstStyle/>
          <a:p>
            <a:r>
              <a:rPr lang="en-US" dirty="0"/>
              <a:t>WGCNA Modules: Gametophyte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91977ECD-62BC-4157-3B1C-13439AA9312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1119809" cy="1119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F9FF3B-94B5-5BD3-0647-37D273CE60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5752"/>
          <a:stretch>
            <a:fillRect/>
          </a:stretch>
        </p:blipFill>
        <p:spPr>
          <a:xfrm>
            <a:off x="1645225" y="1152939"/>
            <a:ext cx="10546775" cy="57213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DC60811-6C95-D38B-9D3A-E4E5D92967F4}"/>
              </a:ext>
            </a:extLst>
          </p:cNvPr>
          <p:cNvSpPr txBox="1"/>
          <p:nvPr/>
        </p:nvSpPr>
        <p:spPr>
          <a:xfrm>
            <a:off x="198783" y="798678"/>
            <a:ext cx="29419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LFY1: Brown (4,534 genes)</a:t>
            </a:r>
          </a:p>
          <a:p>
            <a:r>
              <a:rPr lang="en-US" dirty="0"/>
              <a:t>LFY2: Black (1,192 genes)</a:t>
            </a:r>
          </a:p>
        </p:txBody>
      </p:sp>
    </p:spTree>
    <p:extLst>
      <p:ext uri="{BB962C8B-B14F-4D97-AF65-F5344CB8AC3E}">
        <p14:creationId xmlns:p14="http://schemas.microsoft.com/office/powerpoint/2010/main" val="380982653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D79DC-F0D9-6464-2D51-4454CE06A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03999-C711-F5EE-2065-A89E1C11B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148" y="2313194"/>
            <a:ext cx="3574774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Enrichment of reproductive gene categories in WGCNA modules (gametophyte)</a:t>
            </a:r>
            <a:br>
              <a:rPr lang="en-US" dirty="0"/>
            </a:br>
            <a:endParaRPr lang="en-US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C16E5EF7-765B-8D77-2037-F6AB28F8D53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1119809" cy="1119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8890C8-D139-86CC-00FE-3B718203916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16329"/>
            <a:ext cx="6858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1E134CE-1CDC-91EF-7FE8-C87B86683EC2}"/>
              </a:ext>
            </a:extLst>
          </p:cNvPr>
          <p:cNvSpPr/>
          <p:nvPr/>
        </p:nvSpPr>
        <p:spPr>
          <a:xfrm>
            <a:off x="7924800" y="291548"/>
            <a:ext cx="304800" cy="6162261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B8456A-BA0C-C620-9292-25BD6233EDD6}"/>
              </a:ext>
            </a:extLst>
          </p:cNvPr>
          <p:cNvSpPr/>
          <p:nvPr/>
        </p:nvSpPr>
        <p:spPr>
          <a:xfrm>
            <a:off x="10668000" y="291548"/>
            <a:ext cx="304800" cy="6162261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30205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B3B02-0A7F-AE85-A444-B3E5F0BF3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DB482-5C40-D557-C275-00768F9AA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095" y="16391"/>
            <a:ext cx="7179365" cy="798617"/>
          </a:xfrm>
        </p:spPr>
        <p:txBody>
          <a:bodyPr>
            <a:normAutofit/>
          </a:bodyPr>
          <a:lstStyle/>
          <a:p>
            <a:r>
              <a:rPr lang="en-US" dirty="0"/>
              <a:t>WGCNA Modules: Sporophyte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59331226-A038-81DA-A95A-27666442F7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1119809" cy="1119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97FF55-B91A-EC05-733C-738A82A1BA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5797"/>
          <a:stretch>
            <a:fillRect/>
          </a:stretch>
        </p:blipFill>
        <p:spPr>
          <a:xfrm>
            <a:off x="1519927" y="1073426"/>
            <a:ext cx="10672073" cy="578457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E861A60-8474-6E5C-AEAF-8E03566193BA}"/>
              </a:ext>
            </a:extLst>
          </p:cNvPr>
          <p:cNvSpPr txBox="1"/>
          <p:nvPr/>
        </p:nvSpPr>
        <p:spPr>
          <a:xfrm>
            <a:off x="198783" y="798678"/>
            <a:ext cx="29419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LFY1: Blue (6,459 genes)</a:t>
            </a:r>
          </a:p>
          <a:p>
            <a:r>
              <a:rPr lang="en-US" dirty="0"/>
              <a:t>LFY2: Blue (6,459 genes)</a:t>
            </a:r>
          </a:p>
        </p:txBody>
      </p:sp>
    </p:spTree>
    <p:extLst>
      <p:ext uri="{BB962C8B-B14F-4D97-AF65-F5344CB8AC3E}">
        <p14:creationId xmlns:p14="http://schemas.microsoft.com/office/powerpoint/2010/main" val="182243945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31672-8676-7752-6741-9175A2456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B9698-A1BF-FE54-F69A-8F65A8FC1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148" y="2313194"/>
            <a:ext cx="3574774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Enrichment of reproductive gene categories in WGCNA modules (sporophyte)</a:t>
            </a:r>
            <a:br>
              <a:rPr lang="en-US" dirty="0"/>
            </a:br>
            <a:endParaRPr lang="en-US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376DB0A5-8486-DB27-128A-9227C8CC34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1119809" cy="1119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6D365C-4F63-FF7D-451A-83FFB4407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AADD23B-83CD-E279-E50D-73CBED358DD1}"/>
              </a:ext>
            </a:extLst>
          </p:cNvPr>
          <p:cNvSpPr/>
          <p:nvPr/>
        </p:nvSpPr>
        <p:spPr>
          <a:xfrm>
            <a:off x="8136834" y="347869"/>
            <a:ext cx="265043" cy="6162261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83761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54254-C098-0126-647F-9B81A511B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B4AF5-31CD-D34F-A495-2B9A73EEB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0298"/>
          </a:xfrm>
        </p:spPr>
        <p:txBody>
          <a:bodyPr>
            <a:normAutofit fontScale="90000"/>
          </a:bodyPr>
          <a:lstStyle/>
          <a:p>
            <a:r>
              <a:rPr lang="en-US" dirty="0"/>
              <a:t>MADS box enrichment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0B069EC-0B29-A273-34E4-FAA63A7E13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4466627"/>
              </p:ext>
            </p:extLst>
          </p:nvPr>
        </p:nvGraphicFramePr>
        <p:xfrm>
          <a:off x="838199" y="1825625"/>
          <a:ext cx="8085888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348">
                  <a:extLst>
                    <a:ext uri="{9D8B030D-6E8A-4147-A177-3AD203B41FA5}">
                      <a16:colId xmlns:a16="http://schemas.microsoft.com/office/drawing/2014/main" val="375735781"/>
                    </a:ext>
                  </a:extLst>
                </a:gridCol>
                <a:gridCol w="1588948">
                  <a:extLst>
                    <a:ext uri="{9D8B030D-6E8A-4147-A177-3AD203B41FA5}">
                      <a16:colId xmlns:a16="http://schemas.microsoft.com/office/drawing/2014/main" val="2698401654"/>
                    </a:ext>
                  </a:extLst>
                </a:gridCol>
                <a:gridCol w="1347648">
                  <a:extLst>
                    <a:ext uri="{9D8B030D-6E8A-4147-A177-3AD203B41FA5}">
                      <a16:colId xmlns:a16="http://schemas.microsoft.com/office/drawing/2014/main" val="3607594377"/>
                    </a:ext>
                  </a:extLst>
                </a:gridCol>
                <a:gridCol w="1347648">
                  <a:extLst>
                    <a:ext uri="{9D8B030D-6E8A-4147-A177-3AD203B41FA5}">
                      <a16:colId xmlns:a16="http://schemas.microsoft.com/office/drawing/2014/main" val="391318836"/>
                    </a:ext>
                  </a:extLst>
                </a:gridCol>
                <a:gridCol w="1347648">
                  <a:extLst>
                    <a:ext uri="{9D8B030D-6E8A-4147-A177-3AD203B41FA5}">
                      <a16:colId xmlns:a16="http://schemas.microsoft.com/office/drawing/2014/main" val="1839433159"/>
                    </a:ext>
                  </a:extLst>
                </a:gridCol>
                <a:gridCol w="1347648">
                  <a:extLst>
                    <a:ext uri="{9D8B030D-6E8A-4147-A177-3AD203B41FA5}">
                      <a16:colId xmlns:a16="http://schemas.microsoft.com/office/drawing/2014/main" val="2871189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# Genes in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# MADS in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Fisher Test P-value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273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WGCNA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gametophyte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LFY1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6330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WGCNA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gametophyte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LFY2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0.0001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820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WGCNA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sporophyte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LFY1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603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WGCNA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sporophyte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LFY2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075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TGCN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gametophyte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LFY1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577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TGCN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gametophyte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LFY2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7335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TGCN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sporophyte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LFY1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0098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TGCN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sporophyte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LFY2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97834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8E1247A-6358-15FC-A446-70D37E10A088}"/>
              </a:ext>
            </a:extLst>
          </p:cNvPr>
          <p:cNvSpPr txBox="1"/>
          <p:nvPr/>
        </p:nvSpPr>
        <p:spPr>
          <a:xfrm>
            <a:off x="954157" y="995424"/>
            <a:ext cx="61622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Using NEW MADS box list from Andy</a:t>
            </a:r>
          </a:p>
          <a:p>
            <a:r>
              <a:rPr lang="en-US" dirty="0"/>
              <a:t>43 MADS box genes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CE45EE-CB8D-5299-96A1-D8CDB84986C4}"/>
              </a:ext>
            </a:extLst>
          </p:cNvPr>
          <p:cNvSpPr txBox="1"/>
          <p:nvPr/>
        </p:nvSpPr>
        <p:spPr>
          <a:xfrm>
            <a:off x="735496" y="5616295"/>
            <a:ext cx="6162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Should repeat WGCNA tests with permutation</a:t>
            </a:r>
          </a:p>
        </p:txBody>
      </p:sp>
    </p:spTree>
    <p:extLst>
      <p:ext uri="{BB962C8B-B14F-4D97-AF65-F5344CB8AC3E}">
        <p14:creationId xmlns:p14="http://schemas.microsoft.com/office/powerpoint/2010/main" val="83886655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CA9D2-5619-C446-1D49-30435C800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3E164-3612-A533-FBFD-BDC9757B4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0298"/>
          </a:xfrm>
        </p:spPr>
        <p:txBody>
          <a:bodyPr>
            <a:normAutofit fontScale="90000"/>
          </a:bodyPr>
          <a:lstStyle/>
          <a:p>
            <a:r>
              <a:rPr lang="en-US" dirty="0"/>
              <a:t>MADS box enrichment: </a:t>
            </a:r>
            <a:br>
              <a:rPr lang="en-US" dirty="0"/>
            </a:br>
            <a:r>
              <a:rPr lang="en-US" dirty="0"/>
              <a:t>GSEA using correlation or mutual ranks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DDDA9F5-AFE4-8D84-5336-B220E8A168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1573779"/>
              </p:ext>
            </p:extLst>
          </p:nvPr>
        </p:nvGraphicFramePr>
        <p:xfrm>
          <a:off x="838199" y="2435226"/>
          <a:ext cx="5668619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3409">
                  <a:extLst>
                    <a:ext uri="{9D8B030D-6E8A-4147-A177-3AD203B41FA5}">
                      <a16:colId xmlns:a16="http://schemas.microsoft.com/office/drawing/2014/main" val="375735781"/>
                    </a:ext>
                  </a:extLst>
                </a:gridCol>
                <a:gridCol w="1670900">
                  <a:extLst>
                    <a:ext uri="{9D8B030D-6E8A-4147-A177-3AD203B41FA5}">
                      <a16:colId xmlns:a16="http://schemas.microsoft.com/office/drawing/2014/main" val="2698401654"/>
                    </a:ext>
                  </a:extLst>
                </a:gridCol>
                <a:gridCol w="925996">
                  <a:extLst>
                    <a:ext uri="{9D8B030D-6E8A-4147-A177-3AD203B41FA5}">
                      <a16:colId xmlns:a16="http://schemas.microsoft.com/office/drawing/2014/main" val="3607594377"/>
                    </a:ext>
                  </a:extLst>
                </a:gridCol>
                <a:gridCol w="1908314">
                  <a:extLst>
                    <a:ext uri="{9D8B030D-6E8A-4147-A177-3AD203B41FA5}">
                      <a16:colId xmlns:a16="http://schemas.microsoft.com/office/drawing/2014/main" val="3913188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GSEA p-value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273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gametophyte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LFY1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6330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gametophyte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LFY2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820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sporophyte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LFY1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603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sporophyte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LFY2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075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gametophyte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LFY1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577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gametophyte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LFY2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0.000013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7335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sporophyte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LFY1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0098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sporophyte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LFY2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97834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14EED72-FBDC-742F-9A9D-60FDF636A363}"/>
              </a:ext>
            </a:extLst>
          </p:cNvPr>
          <p:cNvSpPr txBox="1"/>
          <p:nvPr/>
        </p:nvSpPr>
        <p:spPr>
          <a:xfrm>
            <a:off x="954157" y="1353232"/>
            <a:ext cx="61622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Using NEW MADS box list from Andy</a:t>
            </a:r>
          </a:p>
          <a:p>
            <a:r>
              <a:rPr lang="en-US" dirty="0"/>
              <a:t>43 MADS box genes</a:t>
            </a:r>
          </a:p>
        </p:txBody>
      </p:sp>
    </p:spTree>
    <p:extLst>
      <p:ext uri="{BB962C8B-B14F-4D97-AF65-F5344CB8AC3E}">
        <p14:creationId xmlns:p14="http://schemas.microsoft.com/office/powerpoint/2010/main" val="270824000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A5E67-A935-D47D-E5DA-DB6A8CD0C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355A7-B373-385A-DC09-4434FCE44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0769"/>
          </a:xfrm>
        </p:spPr>
        <p:txBody>
          <a:bodyPr/>
          <a:lstStyle/>
          <a:p>
            <a:r>
              <a:rPr lang="en-US" dirty="0"/>
              <a:t>LFY binding site enrichment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6DA78-B3A8-0FE5-3BC3-5EA12115B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5895"/>
            <a:ext cx="10515600" cy="4806480"/>
          </a:xfrm>
        </p:spPr>
        <p:txBody>
          <a:bodyPr/>
          <a:lstStyle/>
          <a:p>
            <a:r>
              <a:rPr lang="en-US" dirty="0"/>
              <a:t>I used the Arabidopsis site (because the PWM is in the database)</a:t>
            </a:r>
          </a:p>
          <a:p>
            <a:pPr marL="0" indent="0">
              <a:buNone/>
            </a:pPr>
            <a:r>
              <a:rPr lang="en-US" dirty="0"/>
              <a:t>(but it is VERY similar to CrLFY2 from </a:t>
            </a:r>
            <a:r>
              <a:rPr lang="en-US" dirty="0" err="1"/>
              <a:t>Sayou</a:t>
            </a:r>
            <a:r>
              <a:rPr lang="en-US" dirty="0"/>
              <a:t> et al.)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5300541-70B4-7856-319C-78D9AECA7E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05948" y="2152158"/>
            <a:ext cx="4512831" cy="22564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E51EC2-1521-1232-5DC3-5491B8E06F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1090" y="4721957"/>
            <a:ext cx="4462546" cy="19357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ABE2223-27C2-2E69-A07E-5F72607BEE2A}"/>
              </a:ext>
            </a:extLst>
          </p:cNvPr>
          <p:cNvSpPr txBox="1"/>
          <p:nvPr/>
        </p:nvSpPr>
        <p:spPr>
          <a:xfrm>
            <a:off x="4380349" y="2199189"/>
            <a:ext cx="14963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Arabidopsis</a:t>
            </a:r>
          </a:p>
        </p:txBody>
      </p:sp>
    </p:spTree>
    <p:extLst>
      <p:ext uri="{BB962C8B-B14F-4D97-AF65-F5344CB8AC3E}">
        <p14:creationId xmlns:p14="http://schemas.microsoft.com/office/powerpoint/2010/main" val="402696095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5C8A6-D92F-781A-638A-C9419F9F5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C6EF9-949B-26E5-DFBE-5A12CABE2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1321"/>
          </a:xfrm>
        </p:spPr>
        <p:txBody>
          <a:bodyPr/>
          <a:lstStyle/>
          <a:p>
            <a:r>
              <a:rPr lang="en-US" dirty="0"/>
              <a:t>LFY binding site enrichment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1FA81DB-8590-5EC3-DEA1-91A07765AD2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199" y="1293189"/>
          <a:ext cx="10423968" cy="41353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6255">
                  <a:extLst>
                    <a:ext uri="{9D8B030D-6E8A-4147-A177-3AD203B41FA5}">
                      <a16:colId xmlns:a16="http://schemas.microsoft.com/office/drawing/2014/main" val="375735781"/>
                    </a:ext>
                  </a:extLst>
                </a:gridCol>
                <a:gridCol w="1589916">
                  <a:extLst>
                    <a:ext uri="{9D8B030D-6E8A-4147-A177-3AD203B41FA5}">
                      <a16:colId xmlns:a16="http://schemas.microsoft.com/office/drawing/2014/main" val="2698401654"/>
                    </a:ext>
                  </a:extLst>
                </a:gridCol>
                <a:gridCol w="949124">
                  <a:extLst>
                    <a:ext uri="{9D8B030D-6E8A-4147-A177-3AD203B41FA5}">
                      <a16:colId xmlns:a16="http://schemas.microsoft.com/office/drawing/2014/main" val="3607594377"/>
                    </a:ext>
                  </a:extLst>
                </a:gridCol>
                <a:gridCol w="1805650">
                  <a:extLst>
                    <a:ext uri="{9D8B030D-6E8A-4147-A177-3AD203B41FA5}">
                      <a16:colId xmlns:a16="http://schemas.microsoft.com/office/drawing/2014/main" val="391318836"/>
                    </a:ext>
                  </a:extLst>
                </a:gridCol>
                <a:gridCol w="2071869">
                  <a:extLst>
                    <a:ext uri="{9D8B030D-6E8A-4147-A177-3AD203B41FA5}">
                      <a16:colId xmlns:a16="http://schemas.microsoft.com/office/drawing/2014/main" val="1839433159"/>
                    </a:ext>
                  </a:extLst>
                </a:gridCol>
                <a:gridCol w="2581154">
                  <a:extLst>
                    <a:ext uri="{9D8B030D-6E8A-4147-A177-3AD203B41FA5}">
                      <a16:colId xmlns:a16="http://schemas.microsoft.com/office/drawing/2014/main" val="2871189003"/>
                    </a:ext>
                  </a:extLst>
                </a:gridCol>
              </a:tblGrid>
              <a:tr h="733877">
                <a:tc>
                  <a:txBody>
                    <a:bodyPr/>
                    <a:lstStyle/>
                    <a:p>
                      <a:r>
                        <a:rPr lang="en-US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Mean LFY sites in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Mean LFY sites outside of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P-value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273581"/>
                  </a:ext>
                </a:extLst>
              </a:tr>
              <a:tr h="425183">
                <a:tc>
                  <a:txBody>
                    <a:bodyPr/>
                    <a:lstStyle/>
                    <a:p>
                      <a:r>
                        <a:rPr lang="en-US" dirty="0"/>
                        <a:t>WGCNA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gametophyte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LFY1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6330490"/>
                  </a:ext>
                </a:extLst>
              </a:tr>
              <a:tr h="425183">
                <a:tc>
                  <a:txBody>
                    <a:bodyPr/>
                    <a:lstStyle/>
                    <a:p>
                      <a:r>
                        <a:rPr lang="en-US" dirty="0"/>
                        <a:t>WGCNA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gametophyte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LFY2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820335"/>
                  </a:ext>
                </a:extLst>
              </a:tr>
              <a:tr h="425183">
                <a:tc>
                  <a:txBody>
                    <a:bodyPr/>
                    <a:lstStyle/>
                    <a:p>
                      <a:r>
                        <a:rPr lang="en-US" dirty="0"/>
                        <a:t>WGCNA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sporophyte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LFY1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603657"/>
                  </a:ext>
                </a:extLst>
              </a:tr>
              <a:tr h="425183">
                <a:tc>
                  <a:txBody>
                    <a:bodyPr/>
                    <a:lstStyle/>
                    <a:p>
                      <a:r>
                        <a:rPr lang="en-US" dirty="0"/>
                        <a:t>WGCNA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sporophyte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LFY2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075192"/>
                  </a:ext>
                </a:extLst>
              </a:tr>
              <a:tr h="425183">
                <a:tc>
                  <a:txBody>
                    <a:bodyPr/>
                    <a:lstStyle/>
                    <a:p>
                      <a:r>
                        <a:rPr lang="en-US" dirty="0"/>
                        <a:t>TGCN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gametophyte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LFY1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577846"/>
                  </a:ext>
                </a:extLst>
              </a:tr>
              <a:tr h="425183">
                <a:tc>
                  <a:txBody>
                    <a:bodyPr/>
                    <a:lstStyle/>
                    <a:p>
                      <a:r>
                        <a:rPr lang="en-US" dirty="0"/>
                        <a:t>TGCN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gametophyte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LFY2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0.01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7335406"/>
                  </a:ext>
                </a:extLst>
              </a:tr>
              <a:tr h="425183">
                <a:tc>
                  <a:txBody>
                    <a:bodyPr/>
                    <a:lstStyle/>
                    <a:p>
                      <a:r>
                        <a:rPr lang="en-US" dirty="0"/>
                        <a:t>TGCN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sporophyte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LFY1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0.07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0098915"/>
                  </a:ext>
                </a:extLst>
              </a:tr>
              <a:tr h="425183">
                <a:tc>
                  <a:txBody>
                    <a:bodyPr/>
                    <a:lstStyle/>
                    <a:p>
                      <a:r>
                        <a:rPr lang="en-US" dirty="0"/>
                        <a:t>TGCN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sporophyte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LFY2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0.005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97834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D676B2B-7D3A-1E4F-4B53-FC30AB72A2EC}"/>
              </a:ext>
            </a:extLst>
          </p:cNvPr>
          <p:cNvSpPr txBox="1"/>
          <p:nvPr/>
        </p:nvSpPr>
        <p:spPr>
          <a:xfrm>
            <a:off x="740780" y="5645273"/>
            <a:ext cx="100305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Used t-test…probably not best choice for count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Best results defining promoter as 5,000bp upstream.  (tried 1500; 3000; 5000; 7500)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NOTE: COULD/SHOULD BE REDONE WITH MR R COR DATA SET IF PUBLISHING WITH YOAN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(FOR CONSISTENCY WITH MADS ENRICHMENT METHODS/DATA SET</a:t>
            </a:r>
          </a:p>
        </p:txBody>
      </p:sp>
    </p:spTree>
    <p:extLst>
      <p:ext uri="{BB962C8B-B14F-4D97-AF65-F5344CB8AC3E}">
        <p14:creationId xmlns:p14="http://schemas.microsoft.com/office/powerpoint/2010/main" val="50455976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C579D-7365-923A-4833-843A2F39D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CrLFY1 in male gametophyte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DE453-2F22-A8B8-FE5B-7A86005B7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Hannah gathered RNA from mature male and hermaphrodite gametophytes</a:t>
            </a:r>
          </a:p>
          <a:p>
            <a:r>
              <a:rPr lang="en-US" dirty="0"/>
              <a:t>Many genes differentially expressed</a:t>
            </a:r>
          </a:p>
          <a:p>
            <a:r>
              <a:rPr lang="en-US" dirty="0"/>
              <a:t>What is the relationship between the DEG and CrLFY1 (or CrLFY2)?</a:t>
            </a:r>
          </a:p>
        </p:txBody>
      </p:sp>
    </p:spTree>
    <p:extLst>
      <p:ext uri="{BB962C8B-B14F-4D97-AF65-F5344CB8AC3E}">
        <p14:creationId xmlns:p14="http://schemas.microsoft.com/office/powerpoint/2010/main" val="181378314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C0E7A-514F-5022-D9F5-B45407FC4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1DEB0-C0EC-1592-D6FF-FD0FCF58C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3091"/>
            <a:ext cx="10515600" cy="1370909"/>
          </a:xfrm>
        </p:spPr>
        <p:txBody>
          <a:bodyPr>
            <a:normAutofit/>
          </a:bodyPr>
          <a:lstStyle/>
          <a:p>
            <a:r>
              <a:rPr lang="en-US" dirty="0"/>
              <a:t>Genes mostly strongly correlated with CrLFY1 are preferentially expressed in males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930B8-9483-C88D-8D58-1537CCA1E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83971"/>
            <a:ext cx="10515600" cy="3792992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EC040F-6485-DE77-235C-7F9F1266C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953" y="1479852"/>
            <a:ext cx="8470093" cy="522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78793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D4510-A22A-4E09-403E-D6E18426C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E43E8D2-2292-A1D2-33CD-F10AD03A4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4827" y="657886"/>
            <a:ext cx="5157173" cy="31813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82A604-2445-2728-98DA-65D779BC5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643" y="240145"/>
            <a:ext cx="11099157" cy="881783"/>
          </a:xfrm>
        </p:spPr>
        <p:txBody>
          <a:bodyPr>
            <a:normAutofit fontScale="90000"/>
          </a:bodyPr>
          <a:lstStyle/>
          <a:p>
            <a:r>
              <a:rPr lang="en-US" dirty="0"/>
              <a:t>Enrichment of reproductive gene categories in Male/Hermaphrodite LFY1 cluster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C44E6E3-F1C0-A35F-FAA3-2454ADE22892}"/>
              </a:ext>
            </a:extLst>
          </p:cNvPr>
          <p:cNvGraphicFramePr>
            <a:graphicFrameLocks noGrp="1"/>
          </p:cNvGraphicFramePr>
          <p:nvPr/>
        </p:nvGraphicFramePr>
        <p:xfrm>
          <a:off x="68157" y="1730537"/>
          <a:ext cx="7339639" cy="46239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22065">
                  <a:extLst>
                    <a:ext uri="{9D8B030D-6E8A-4147-A177-3AD203B41FA5}">
                      <a16:colId xmlns:a16="http://schemas.microsoft.com/office/drawing/2014/main" val="1453746736"/>
                    </a:ext>
                  </a:extLst>
                </a:gridCol>
                <a:gridCol w="2745991">
                  <a:extLst>
                    <a:ext uri="{9D8B030D-6E8A-4147-A177-3AD203B41FA5}">
                      <a16:colId xmlns:a16="http://schemas.microsoft.com/office/drawing/2014/main" val="293841555"/>
                    </a:ext>
                  </a:extLst>
                </a:gridCol>
                <a:gridCol w="1023861">
                  <a:extLst>
                    <a:ext uri="{9D8B030D-6E8A-4147-A177-3AD203B41FA5}">
                      <a16:colId xmlns:a16="http://schemas.microsoft.com/office/drawing/2014/main" val="3528715635"/>
                    </a:ext>
                  </a:extLst>
                </a:gridCol>
                <a:gridCol w="1023861">
                  <a:extLst>
                    <a:ext uri="{9D8B030D-6E8A-4147-A177-3AD203B41FA5}">
                      <a16:colId xmlns:a16="http://schemas.microsoft.com/office/drawing/2014/main" val="2137141716"/>
                    </a:ext>
                  </a:extLst>
                </a:gridCol>
                <a:gridCol w="1023861">
                  <a:extLst>
                    <a:ext uri="{9D8B030D-6E8A-4147-A177-3AD203B41FA5}">
                      <a16:colId xmlns:a16="http://schemas.microsoft.com/office/drawing/2014/main" val="2745036105"/>
                    </a:ext>
                  </a:extLst>
                </a:gridCol>
              </a:tblGrid>
              <a:tr h="6412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u="none" strike="noStrike">
                          <a:effectLst/>
                        </a:rPr>
                        <a:t>module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u="none" strike="noStrike">
                          <a:effectLst/>
                        </a:rPr>
                        <a:t>gene.category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u="none" strike="noStrike">
                          <a:effectLst/>
                        </a:rPr>
                        <a:t>estimate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u="none" strike="noStrike">
                          <a:effectLst/>
                        </a:rPr>
                        <a:t>fisher.fdr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u="none" strike="noStrike" dirty="0" err="1">
                          <a:effectLst/>
                        </a:rPr>
                        <a:t>fisher.p.value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27696862"/>
                  </a:ext>
                </a:extLst>
              </a:tr>
              <a:tr h="34723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in_LFY1_cluster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Stamen.expressed.7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2.75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9.86E-13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2.35E-14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59295935"/>
                  </a:ext>
                </a:extLst>
              </a:tr>
              <a:tr h="5103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in_LFY1_cluster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Stamen.spl.nzz.downregulated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3.08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8.78E-12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4.18E-13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91362926"/>
                  </a:ext>
                </a:extLst>
              </a:tr>
              <a:tr h="34723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in_LFY1_cluster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Stamen.all.tissues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2.69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4.80E-11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3.43E-12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16359638"/>
                  </a:ext>
                </a:extLst>
              </a:tr>
              <a:tr h="34723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in_LFY1_cluster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Embryo.specific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1.72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4.86E-09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4.62E-10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96805256"/>
                  </a:ext>
                </a:extLst>
              </a:tr>
              <a:tr h="34723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in_LFY1_cluster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Stamen.ms1.downregulated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2.81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1.78E-05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2.12E-06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78095039"/>
                  </a:ext>
                </a:extLst>
              </a:tr>
              <a:tr h="34723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in_LFY1_cluster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Post.pollination.stage.pollen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2.59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1.86E-05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2.66E-06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2699960"/>
                  </a:ext>
                </a:extLst>
              </a:tr>
              <a:tr h="34723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in_LFY1_cluster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Mature.pollen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2.00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9.37E-03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1.65E-03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9296129"/>
                  </a:ext>
                </a:extLst>
              </a:tr>
              <a:tr h="34723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in_LFY1_cluster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Late.stamen..whole.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2.61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9.37E-03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1.78E-03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53293543"/>
                  </a:ext>
                </a:extLst>
              </a:tr>
              <a:tr h="34723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in_LFY1_cluster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Embryo.sac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1.68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1.71E-02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3.67E-03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61552296"/>
                  </a:ext>
                </a:extLst>
              </a:tr>
              <a:tr h="34723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in_LFY1_cluster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Intermediate.stamen..whole.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2.35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1.81E-02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4.43E-03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94433719"/>
                  </a:ext>
                </a:extLst>
              </a:tr>
              <a:tr h="34723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in_LFY1_cluster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 err="1">
                          <a:effectLst/>
                        </a:rPr>
                        <a:t>Stamen.specific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2.65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1.81E-02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4.75E-03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373435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181167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0C941-BD42-C51B-45CF-70C3A78AB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AD60A-532F-AB50-1AF6-2E9284CE1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4245"/>
          </a:xfrm>
        </p:spPr>
        <p:txBody>
          <a:bodyPr>
            <a:normAutofit fontScale="90000"/>
          </a:bodyPr>
          <a:lstStyle/>
          <a:p>
            <a:r>
              <a:rPr lang="en-US" dirty="0"/>
              <a:t>GO enrichment LFY1 cluster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9241CE-80AA-9A49-CA75-5D41DEAE9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58" y="1603948"/>
            <a:ext cx="11892284" cy="337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811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16223</TotalTime>
  <Words>3931</Words>
  <Application>Microsoft Macintosh PowerPoint</Application>
  <PresentationFormat>Widescreen</PresentationFormat>
  <Paragraphs>1274</Paragraphs>
  <Slides>103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103</vt:i4>
      </vt:variant>
    </vt:vector>
  </HeadingPairs>
  <TitlesOfParts>
    <vt:vector size="109" baseType="lpstr">
      <vt:lpstr>Aptos</vt:lpstr>
      <vt:lpstr>Aptos Display</vt:lpstr>
      <vt:lpstr>Aptos Narrow</vt:lpstr>
      <vt:lpstr>Arial</vt:lpstr>
      <vt:lpstr>Wingdings</vt:lpstr>
      <vt:lpstr>Office Theme</vt:lpstr>
      <vt:lpstr>Ceratopteris  LFY RNAseq Update</vt:lpstr>
      <vt:lpstr>Is the annotation for LFY1 OK? Yes</vt:lpstr>
      <vt:lpstr>Is the annotation for LFY2 OK? Yes</vt:lpstr>
      <vt:lpstr>Was I counting reads correctly? NO</vt:lpstr>
      <vt:lpstr>LFY1: old on left, new on right.  Pattern is similar but counts are more reasonable.</vt:lpstr>
      <vt:lpstr>LFY2: old on left, new on right.  Pattern is similar but counts are more reasonable.</vt:lpstr>
      <vt:lpstr>LFY1 vs LFY2</vt:lpstr>
      <vt:lpstr>Network attempt 1: WGCNA, all samples</vt:lpstr>
      <vt:lpstr>Network attempt 1: WGCNA, all samples</vt:lpstr>
      <vt:lpstr>Network attempt 1: WGCNA, sporophyte</vt:lpstr>
      <vt:lpstr>Network attempt 1: WGCNA, sporophyte</vt:lpstr>
      <vt:lpstr>Network attempt 1: WGCNA, gametophyte</vt:lpstr>
      <vt:lpstr>Network attempt 1: WGCNA, gametophyte</vt:lpstr>
      <vt:lpstr>Next Steps</vt:lpstr>
      <vt:lpstr>Update March 13, 2025</vt:lpstr>
      <vt:lpstr>Overview of new progress</vt:lpstr>
      <vt:lpstr>TOP3 GO Enrichment: LFY1</vt:lpstr>
      <vt:lpstr>Top3 GO Enrichment: LFY2</vt:lpstr>
      <vt:lpstr>What modules are the MADS box genes in?</vt:lpstr>
      <vt:lpstr>TGCN network</vt:lpstr>
      <vt:lpstr>TGCN LASSO Diagnostics LFY1</vt:lpstr>
      <vt:lpstr>TGCN LASSO Diagnostics LFY2</vt:lpstr>
      <vt:lpstr>TGCNc5 LFY 1 subnetwork correlation with LFY1</vt:lpstr>
      <vt:lpstr>TGCNc5 LFY 1 heatmap</vt:lpstr>
      <vt:lpstr>TGCNc5 LFY 1 GO terms (should redo on whole list)</vt:lpstr>
      <vt:lpstr>TGCNc3 LFY2 subnetwork correlation with LFY2</vt:lpstr>
      <vt:lpstr>TGCNc3 LFY2 heatmap</vt:lpstr>
      <vt:lpstr>TGCNc3 LFY2 GO terms (should redo on whole list)</vt:lpstr>
      <vt:lpstr>TGCNc3 LFY2 GO terms (should redo on whole list)</vt:lpstr>
      <vt:lpstr>MR</vt:lpstr>
      <vt:lpstr>Next Steps</vt:lpstr>
      <vt:lpstr>Update April 21</vt:lpstr>
      <vt:lpstr>Overview</vt:lpstr>
      <vt:lpstr>Gametophyte MDS</vt:lpstr>
      <vt:lpstr>Gametophyte LFY expression</vt:lpstr>
      <vt:lpstr>Sporophyte MDS</vt:lpstr>
      <vt:lpstr>Sporophyte LFY expression</vt:lpstr>
      <vt:lpstr>WGCNA LFY Module Size (more samples mostly did not help)</vt:lpstr>
      <vt:lpstr>TGCN LFY1 gametophyte maybe looks better</vt:lpstr>
      <vt:lpstr>TGCN LFY1 sporophyte…</vt:lpstr>
      <vt:lpstr>TGCN LFY2 gametophyte maybe looks better</vt:lpstr>
      <vt:lpstr>TGCN LFY2 sporophyte maybe looks better</vt:lpstr>
      <vt:lpstr>Update May 5, 2025</vt:lpstr>
      <vt:lpstr>MADS box enrichment</vt:lpstr>
      <vt:lpstr>LFY binding site enrichment</vt:lpstr>
      <vt:lpstr>LFY binding site enrichment</vt:lpstr>
      <vt:lpstr>Single cell / nuclei RNAseq </vt:lpstr>
      <vt:lpstr>Update June 10, 2025</vt:lpstr>
      <vt:lpstr>“How come Marchant reports so many more expressed genes?”</vt:lpstr>
      <vt:lpstr>First draft of methods for males vs hermaphrodites done</vt:lpstr>
      <vt:lpstr>Redid gametophyte networks without 4.5 DAG samples</vt:lpstr>
      <vt:lpstr>LFY1 vs male/hermaphrodite DEG</vt:lpstr>
      <vt:lpstr>LFY1 vs male/hermaphrodite DEG</vt:lpstr>
      <vt:lpstr>LFY1 vs male/hermaphrodite DEG</vt:lpstr>
      <vt:lpstr>LFY2 vs male/hermaphrodite DEG</vt:lpstr>
      <vt:lpstr>LFY2 vs male/hermaphrodite DEG</vt:lpstr>
      <vt:lpstr>LFY2 vs male/hermaphrodite DEG</vt:lpstr>
      <vt:lpstr>Update June 20, 2025</vt:lpstr>
      <vt:lpstr>The relationship between male/hermaphrodite DEG genes and the LFY1 network persists when I build the network without the male/hermaphrodite samples</vt:lpstr>
      <vt:lpstr>Trying to ID genes in the cluster</vt:lpstr>
      <vt:lpstr>Trying to ID genes in the cluster</vt:lpstr>
      <vt:lpstr>Trying to ID genes in the cluster</vt:lpstr>
      <vt:lpstr>Trying to ID genes in the cluster</vt:lpstr>
      <vt:lpstr>There are 1180 genes in the cluster</vt:lpstr>
      <vt:lpstr>GO enrichment</vt:lpstr>
      <vt:lpstr>Next Steps</vt:lpstr>
      <vt:lpstr>Update July 03, 2025</vt:lpstr>
      <vt:lpstr>Reviewed 2015 Arabidopsis Analysis</vt:lpstr>
      <vt:lpstr>Update Dec 02, 2025</vt:lpstr>
      <vt:lpstr>Background for Andy</vt:lpstr>
      <vt:lpstr>Background for Andy</vt:lpstr>
      <vt:lpstr>Background for Andy</vt:lpstr>
      <vt:lpstr>Working with Andy’s Annotations</vt:lpstr>
      <vt:lpstr>Things that can be done with Andy’s data</vt:lpstr>
      <vt:lpstr>Enrichment of reproductive gene categories in WGCNA modules (gametophyte) </vt:lpstr>
      <vt:lpstr>NEW Enrichment of reproductive gene categories in WGCNA modules (gametophyte) </vt:lpstr>
      <vt:lpstr>Enrichment of reproductive gene categories in WGCNA modules (sporophyte) </vt:lpstr>
      <vt:lpstr>NEW Enrichment of reproductive gene categories in WGCNA modules (sporophyte) </vt:lpstr>
      <vt:lpstr>Enrichment of reproductive gene categories in male vs hermaphrodite</vt:lpstr>
      <vt:lpstr>NEW Enrichment of reproductive gene categories in male vs hermaphrodite</vt:lpstr>
      <vt:lpstr>Enrichment of reproductive gene categories in Male/Hermaphrodite LFY1 cluster</vt:lpstr>
      <vt:lpstr>NEW Enrichment of reproductive gene categories in Male/Hermaphrodite LFY1 cluster</vt:lpstr>
      <vt:lpstr>Overview of fern LFY investigation</vt:lpstr>
      <vt:lpstr>Background</vt:lpstr>
      <vt:lpstr>Background</vt:lpstr>
      <vt:lpstr>Background</vt:lpstr>
      <vt:lpstr>WGCNA Network Analysis</vt:lpstr>
      <vt:lpstr>Gametophyte Sample MDS</vt:lpstr>
      <vt:lpstr>Gametophyte LFY expression</vt:lpstr>
      <vt:lpstr>Sporophyte Sample MDS</vt:lpstr>
      <vt:lpstr>Sporophyte LFY expression</vt:lpstr>
      <vt:lpstr>WGCNA Modules: Gametophyte</vt:lpstr>
      <vt:lpstr>Enrichment of reproductive gene categories in WGCNA modules (gametophyte) </vt:lpstr>
      <vt:lpstr>WGCNA Modules: Sporophyte</vt:lpstr>
      <vt:lpstr>Enrichment of reproductive gene categories in WGCNA modules (sporophyte) </vt:lpstr>
      <vt:lpstr>MADS box enrichment</vt:lpstr>
      <vt:lpstr>MADS box enrichment:  GSEA using correlation or mutual ranks</vt:lpstr>
      <vt:lpstr>LFY binding site enrichment</vt:lpstr>
      <vt:lpstr>LFY binding site enrichment</vt:lpstr>
      <vt:lpstr>CrLFY1 in male gametophyte development</vt:lpstr>
      <vt:lpstr>Genes mostly strongly correlated with CrLFY1 are preferentially expressed in males</vt:lpstr>
      <vt:lpstr>Enrichment of reproductive gene categories in Male/Hermaphrodite LFY1 cluster</vt:lpstr>
      <vt:lpstr>GO enrichment LFY1 cluster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Julin Nassir Maloof</dc:creator>
  <cp:lastModifiedBy>Julin Maloof</cp:lastModifiedBy>
  <cp:revision>39</cp:revision>
  <cp:lastPrinted>2026-01-30T18:32:54Z</cp:lastPrinted>
  <dcterms:created xsi:type="dcterms:W3CDTF">2025-02-17T00:25:01Z</dcterms:created>
  <dcterms:modified xsi:type="dcterms:W3CDTF">2026-02-02T19:50:13Z</dcterms:modified>
</cp:coreProperties>
</file>